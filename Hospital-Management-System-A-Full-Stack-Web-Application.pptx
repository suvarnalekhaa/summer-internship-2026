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Lexend"/>
      <p:regular r:id="rId201314"/>
    </p:embeddedFont>
    <p:embeddedFont>
      <p:font typeface="Lexend SemiBold"/>
      <p:regular r:id="rId201315"/>
    </p:embeddedFont>
    <p:embeddedFont>
      <p:font typeface="Lexend Bold"/>
      <p:regular r:id="rId201316"/>
    </p:embeddedFont>
    <p:embeddedFont>
      <p:font typeface="Martian Mono Medium"/>
      <p:regular r:id="rId201317"/>
    </p:embeddedFont>
    <p:embeddedFont>
      <p:font typeface="Syne SemiBold"/>
      <p:regular r:id="rId201318"/>
    </p:embeddedFont>
    <p:embeddedFont>
      <p:font typeface="Syne 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presenting my Hospital Management System, developed as a full-stack web application during my internship. I will move from the project context to the workflow problems, system design, implementation, testing and future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began with a 30-day internship project and shaped it into a role-based platform for hospital operations. The project combines the capabilities of ORMATRIX with a practical full-stack stack, which leads to the workflow problem the system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starting point was friction: paper records, manual appointments and billing, and no consistent access to centralized data. My objectives were to digitize these processes, secure access and reduce workload, errors and redundant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brings the core capabilities into one place, from role-based login to patient management, scheduling and billing. The intended benefits are automation, accuracy, data security and scalability, all supported by real-time access and a responsive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swimlane shows how one patient journey moves through four roles while the data remains shared. MongoDB stores Patients, Doctors, Appointments and Bills, while the frontend, backend and database layers support the handoffs.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role has a defined responsibility, and the module flow connects those responsibilities from patient management through system integration. Conflict prevention, auto-calculated charges and separate MongoDB collections support control and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implemented four focused algorithms around authentication, appointments, billing and permissions. The route structure and authorize(role) middleware connect these checks to the application, while the Mongoose Patient schema supports the stored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placeholders are arranged for the actual project captures: role selection, secure login, dashboard controls, appointment management, doctor management and patient registration. I will replace each panel with the corresponding screenshot while preserving the captions and workflow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the system module by module and focused on the handoffs where failures could interrupt the workflow. I also checked edge cases, validation, response time and dashboard responsiveness, resulting in no paperwork, fewer errors, centralized data and better administrative visibility.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conclude with a centralized, role-based platform that reduces workload, minimizes errors and improves coordination, while reflecting my learning in full-stack development, MongoDB design, integration, debugging and testing. The next stage includes stronger authentication, mobile and cloud capabilities, uploads, analytics, online payments and AI-based predictive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38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FFFF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85783" y="609600"/>
            <a:ext cx="5968851" cy="5524103"/>
          </a:xfrm>
          <a:prstGeom prst="roundRect">
            <a:avLst>
              <a:gd name="adj" fmla="val 2759"/>
            </a:avLst>
          </a:prstGeom>
          <a:solidFill>
            <a:srgbClr val="F4F6F8"/>
          </a:solidFill>
          <a:ln/>
        </p:spPr>
      </p:sp>
      <p:sp>
        <p:nvSpPr>
          <p:cNvPr id="3" name="Text 1"/>
          <p:cNvSpPr/>
          <p:nvPr/>
        </p:nvSpPr>
        <p:spPr>
          <a:xfrm>
            <a:off x="1092173" y="977583"/>
            <a:ext cx="5765656"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1E2328"/>
                </a:solidFill>
                <a:latin typeface="Martian Mono Medium" pitchFamily="34" charset="0"/>
                <a:ea typeface="Martian Mono Medium" pitchFamily="34" charset="-122"/>
                <a:cs typeface="Martian Mono Medium" pitchFamily="34" charset="0"/>
              </a:rPr>
              <a:t>INTERNSHIP PROJECT PRESENTATION</a:t>
            </a:r>
            <a:endParaRPr lang="en-US" sz="1200" dirty="0"/>
          </a:p>
        </p:txBody>
      </p:sp>
      <p:sp>
        <p:nvSpPr>
          <p:cNvPr id="4" name="Text 2"/>
          <p:cNvSpPr/>
          <p:nvPr/>
        </p:nvSpPr>
        <p:spPr>
          <a:xfrm>
            <a:off x="1092173" y="1281351"/>
            <a:ext cx="5156071" cy="2590602"/>
          </a:xfrm>
          <a:prstGeom prst="rect">
            <a:avLst/>
          </a:prstGeom>
          <a:noFill/>
          <a:ln/>
        </p:spPr>
        <p:txBody>
          <a:bodyPr wrap="square" lIns="0" tIns="0" rIns="0" bIns="0" rtlCol="0" anchor="t">
            <a:normAutofit/>
          </a:bodyPr>
          <a:lstStyle/>
          <a:p>
            <a:pPr algn="l" indent="0" marL="0">
              <a:lnSpc>
                <a:spcPct val="85000"/>
              </a:lnSpc>
              <a:buNone/>
            </a:pPr>
            <a:r>
              <a:rPr lang="en-US" sz="4000" b="1" spc="-80" kern="100" dirty="0">
                <a:solidFill>
                  <a:srgbClr val="1E2328"/>
                </a:solidFill>
                <a:latin typeface="Syne Bold" pitchFamily="34" charset="0"/>
                <a:ea typeface="Syne Bold" pitchFamily="34" charset="-122"/>
                <a:cs typeface="Syne Bold" pitchFamily="34" charset="0"/>
              </a:rPr>
              <a:t>Hospital Management System – A Full-Stack Web Application</a:t>
            </a:r>
            <a:endParaRPr lang="en-US" sz="4000" dirty="0"/>
          </a:p>
        </p:txBody>
      </p:sp>
      <p:sp>
        <p:nvSpPr>
          <p:cNvPr id="5" name="Text 3"/>
          <p:cNvSpPr/>
          <p:nvPr/>
        </p:nvSpPr>
        <p:spPr>
          <a:xfrm>
            <a:off x="1092173" y="4055467"/>
            <a:ext cx="5156071" cy="1100336"/>
          </a:xfrm>
          <a:prstGeom prst="rect">
            <a:avLst/>
          </a:prstGeom>
          <a:noFill/>
          <a:ln/>
        </p:spPr>
        <p:txBody>
          <a:bodyPr wrap="square" lIns="0" tIns="0" rIns="0" bIns="0" rtlCol="0" anchor="t"/>
          <a:lstStyle/>
          <a:p>
            <a:pPr algn="l" indent="0" marL="0">
              <a:lnSpc>
                <a:spcPct val="117000"/>
              </a:lnSpc>
              <a:spcAft>
                <a:spcPts val="1500"/>
              </a:spcAft>
              <a:buNone/>
            </a:pPr>
            <a:r>
              <a:rPr lang="en-US" sz="1700" dirty="0">
                <a:solidFill>
                  <a:srgbClr val="1E2328"/>
                </a:solidFill>
                <a:latin typeface="Lexend" pitchFamily="34" charset="0"/>
                <a:ea typeface="Lexend" pitchFamily="34" charset="-122"/>
                <a:cs typeface="Lexend" pitchFamily="34" charset="0"/>
              </a:rPr>
              <a:t>Presented by Suvarnalekhaa N</a:t>
            </a:r>
            <a:endParaRPr lang="en-US" sz="1700" dirty="0"/>
          </a:p>
          <a:p>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Registration No.: 810023205086 · B.Tech Information Technology · 2023–2027</a:t>
            </a:r>
            <a:endParaRPr lang="en-US" sz="1700" dirty="0"/>
          </a:p>
        </p:txBody>
      </p:sp>
      <p:sp>
        <p:nvSpPr>
          <p:cNvPr id="6" name="Text 4"/>
          <p:cNvSpPr/>
          <p:nvPr/>
        </p:nvSpPr>
        <p:spPr>
          <a:xfrm>
            <a:off x="1092173" y="5357813"/>
            <a:ext cx="5156071" cy="428625"/>
          </a:xfrm>
          <a:prstGeom prst="rect">
            <a:avLst/>
          </a:prstGeom>
          <a:noFill/>
          <a:ln/>
        </p:spPr>
        <p:txBody>
          <a:bodyPr wrap="square" lIns="0" tIns="0" rIns="0" bIns="0" rtlCol="0" anchor="t">
            <a:normAutofit/>
          </a:bodyPr>
          <a:lstStyle/>
          <a:p>
            <a:pPr algn="l" indent="0" marL="0">
              <a:lnSpc>
                <a:spcPct val="112000"/>
              </a:lnSpc>
              <a:buNone/>
            </a:pPr>
            <a:r>
              <a:rPr lang="en-US" sz="1250" dirty="0">
                <a:solidFill>
                  <a:srgbClr val="1E2328"/>
                </a:solidFill>
                <a:latin typeface="Lexend" pitchFamily="34" charset="0"/>
                <a:ea typeface="Lexend" pitchFamily="34" charset="-122"/>
                <a:cs typeface="Lexend" pitchFamily="34" charset="0"/>
              </a:rPr>
              <a:t>Internship at ORMATRIX – The Complete IT Solution, Pudupalayam, Cuddalore, Tamil Nadu · 30-day internship</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30906"/>
            <a:ext cx="5430404" cy="1508522"/>
          </a:xfrm>
          <a:prstGeom prst="rect">
            <a:avLst/>
          </a:prstGeom>
          <a:noFill/>
          <a:ln/>
        </p:spPr>
        <p:txBody>
          <a:bodyPr wrap="square" lIns="0" tIns="0" rIns="0" bIns="0" rtlCol="0" anchor="t">
            <a:normAutofit/>
          </a:bodyPr>
          <a:lstStyle/>
          <a:p>
            <a:pPr algn="l" indent="0" marL="0">
              <a:lnSpc>
                <a:spcPct val="92000"/>
              </a:lnSpc>
              <a:buNone/>
            </a:pPr>
            <a:r>
              <a:rPr lang="en-US" sz="3600" b="1" spc="-54" kern="100" dirty="0">
                <a:solidFill>
                  <a:srgbClr val="1E2328"/>
                </a:solidFill>
                <a:latin typeface="Syne Bold" pitchFamily="34" charset="0"/>
                <a:ea typeface="Syne Bold" pitchFamily="34" charset="-122"/>
                <a:cs typeface="Syne Bold" pitchFamily="34" charset="0"/>
              </a:rPr>
              <a:t>A 30-day internship became a role-based hospital platform</a:t>
            </a:r>
            <a:endParaRPr lang="en-US" sz="3600" dirty="0"/>
          </a:p>
        </p:txBody>
      </p:sp>
      <p:pic>
        <p:nvPicPr>
          <p:cNvPr id="3" name="Image 0" descr="preencoded.png">    </p:cNvPr>
          <p:cNvPicPr>
            <a:picLocks noChangeAspect="1"/>
          </p:cNvPicPr>
          <p:nvPr/>
        </p:nvPicPr>
        <p:blipFill>
          <a:blip r:embed="rId1"/>
          <a:stretch>
            <a:fillRect/>
          </a:stretch>
        </p:blipFill>
        <p:spPr>
          <a:xfrm>
            <a:off x="609585" y="2334002"/>
            <a:ext cx="431789" cy="431800"/>
          </a:xfrm>
          <a:prstGeom prst="rect">
            <a:avLst/>
          </a:prstGeom>
        </p:spPr>
      </p:pic>
      <p:sp>
        <p:nvSpPr>
          <p:cNvPr id="4" name="Text 1"/>
          <p:cNvSpPr/>
          <p:nvPr/>
        </p:nvSpPr>
        <p:spPr>
          <a:xfrm>
            <a:off x="1257269" y="2351167"/>
            <a:ext cx="4782720" cy="274241"/>
          </a:xfrm>
          <a:prstGeom prst="rect">
            <a:avLst/>
          </a:prstGeom>
          <a:noFill/>
          <a:ln/>
        </p:spPr>
        <p:txBody>
          <a:bodyPr wrap="none" lIns="0" tIns="0" rIns="0" bIns="0" rtlCol="0" anchor="t"/>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Full-stack web development</a:t>
            </a:r>
            <a:endParaRPr lang="en-US" sz="1800" dirty="0"/>
          </a:p>
        </p:txBody>
      </p:sp>
      <p:sp>
        <p:nvSpPr>
          <p:cNvPr id="5" name="Text 2"/>
          <p:cNvSpPr/>
          <p:nvPr/>
        </p:nvSpPr>
        <p:spPr>
          <a:xfrm>
            <a:off x="1257269" y="2769235"/>
            <a:ext cx="4782720" cy="302220"/>
          </a:xfrm>
          <a:prstGeom prst="rect">
            <a:avLst/>
          </a:prstGeom>
          <a:noFill/>
          <a:ln/>
        </p:spPr>
        <p:txBody>
          <a:bodyPr wrap="none" lIns="0" tIns="0" rIns="0" bIns="0" rtlCol="0" anchor="t"/>
          <a:lstStyle/>
          <a:p>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Focused on automating hospital operations.</a:t>
            </a:r>
            <a:endParaRPr lang="en-US" sz="1700" dirty="0"/>
          </a:p>
        </p:txBody>
      </p:sp>
      <p:pic>
        <p:nvPicPr>
          <p:cNvPr id="6" name="Image 1" descr="preencoded.png">    </p:cNvPr>
          <p:cNvPicPr>
            <a:picLocks noChangeAspect="1"/>
          </p:cNvPicPr>
          <p:nvPr/>
        </p:nvPicPr>
        <p:blipFill>
          <a:blip r:embed="rId2"/>
          <a:stretch>
            <a:fillRect/>
          </a:stretch>
        </p:blipFill>
        <p:spPr>
          <a:xfrm>
            <a:off x="609585" y="3066038"/>
            <a:ext cx="431789" cy="431800"/>
          </a:xfrm>
          <a:prstGeom prst="rect">
            <a:avLst/>
          </a:prstGeom>
        </p:spPr>
      </p:pic>
      <p:sp>
        <p:nvSpPr>
          <p:cNvPr id="7" name="Text 3"/>
          <p:cNvSpPr/>
          <p:nvPr/>
        </p:nvSpPr>
        <p:spPr>
          <a:xfrm>
            <a:off x="1257269" y="3083203"/>
            <a:ext cx="4782720" cy="274241"/>
          </a:xfrm>
          <a:prstGeom prst="rect">
            <a:avLst/>
          </a:prstGeom>
          <a:noFill/>
          <a:ln/>
        </p:spPr>
        <p:txBody>
          <a:bodyPr wrap="none" lIns="0" tIns="0" rIns="0" bIns="0" rtlCol="0" anchor="t"/>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Five roles</a:t>
            </a:r>
            <a:endParaRPr lang="en-US" sz="1800" dirty="0"/>
          </a:p>
        </p:txBody>
      </p:sp>
      <p:sp>
        <p:nvSpPr>
          <p:cNvPr id="8" name="Text 4"/>
          <p:cNvSpPr/>
          <p:nvPr/>
        </p:nvSpPr>
        <p:spPr>
          <a:xfrm>
            <a:off x="1257269" y="3501271"/>
            <a:ext cx="4782720"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Administrator, Receptionist, Doctor, Patient, Billing Staff.</a:t>
            </a:r>
            <a:endParaRPr lang="en-US" sz="1700" dirty="0"/>
          </a:p>
        </p:txBody>
      </p:sp>
      <p:pic>
        <p:nvPicPr>
          <p:cNvPr id="9" name="Image 2" descr="preencoded.png">    </p:cNvPr>
          <p:cNvPicPr>
            <a:picLocks noChangeAspect="1"/>
          </p:cNvPicPr>
          <p:nvPr/>
        </p:nvPicPr>
        <p:blipFill>
          <a:blip r:embed="rId3"/>
          <a:stretch>
            <a:fillRect/>
          </a:stretch>
        </p:blipFill>
        <p:spPr>
          <a:xfrm>
            <a:off x="609585" y="4100294"/>
            <a:ext cx="431789" cy="431800"/>
          </a:xfrm>
          <a:prstGeom prst="rect">
            <a:avLst/>
          </a:prstGeom>
        </p:spPr>
      </p:pic>
      <p:sp>
        <p:nvSpPr>
          <p:cNvPr id="10" name="Text 5"/>
          <p:cNvSpPr/>
          <p:nvPr/>
        </p:nvSpPr>
        <p:spPr>
          <a:xfrm>
            <a:off x="1257269" y="4117459"/>
            <a:ext cx="4782720" cy="274241"/>
          </a:xfrm>
          <a:prstGeom prst="rect">
            <a:avLst/>
          </a:prstGeom>
          <a:noFill/>
          <a:ln/>
        </p:spPr>
        <p:txBody>
          <a:bodyPr wrap="none" lIns="0" tIns="0" rIns="0" bIns="0" rtlCol="0" anchor="t"/>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ORMATRIX capabilities</a:t>
            </a:r>
            <a:endParaRPr lang="en-US" sz="1800" dirty="0"/>
          </a:p>
        </p:txBody>
      </p:sp>
      <p:sp>
        <p:nvSpPr>
          <p:cNvPr id="11" name="Text 6"/>
          <p:cNvSpPr/>
          <p:nvPr/>
        </p:nvSpPr>
        <p:spPr>
          <a:xfrm>
            <a:off x="1257269" y="4535527"/>
            <a:ext cx="4782720"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Web, software and mobile apps, UI/UX, database management, IT consulting.</a:t>
            </a:r>
            <a:endParaRPr lang="en-US" sz="1700" dirty="0"/>
          </a:p>
        </p:txBody>
      </p:sp>
      <p:pic>
        <p:nvPicPr>
          <p:cNvPr id="12" name="Image 3" descr="preencoded.png">    </p:cNvPr>
          <p:cNvPicPr>
            <a:picLocks noChangeAspect="1"/>
          </p:cNvPicPr>
          <p:nvPr/>
        </p:nvPicPr>
        <p:blipFill>
          <a:blip r:embed="rId4"/>
          <a:stretch>
            <a:fillRect/>
          </a:stretch>
        </p:blipFill>
        <p:spPr>
          <a:xfrm>
            <a:off x="609585" y="5134551"/>
            <a:ext cx="431789" cy="431800"/>
          </a:xfrm>
          <a:prstGeom prst="rect">
            <a:avLst/>
          </a:prstGeom>
        </p:spPr>
      </p:pic>
      <p:sp>
        <p:nvSpPr>
          <p:cNvPr id="13" name="Text 7"/>
          <p:cNvSpPr/>
          <p:nvPr/>
        </p:nvSpPr>
        <p:spPr>
          <a:xfrm>
            <a:off x="1257269" y="5151715"/>
            <a:ext cx="4782720" cy="274241"/>
          </a:xfrm>
          <a:prstGeom prst="rect">
            <a:avLst/>
          </a:prstGeom>
          <a:noFill/>
          <a:ln/>
        </p:spPr>
        <p:txBody>
          <a:bodyPr wrap="none" lIns="0" tIns="0" rIns="0" bIns="0" rtlCol="0" anchor="t"/>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Stack</a:t>
            </a:r>
            <a:endParaRPr lang="en-US" sz="1800" dirty="0"/>
          </a:p>
        </p:txBody>
      </p:sp>
      <p:sp>
        <p:nvSpPr>
          <p:cNvPr id="14" name="Text 8"/>
          <p:cNvSpPr/>
          <p:nvPr/>
        </p:nvSpPr>
        <p:spPr>
          <a:xfrm>
            <a:off x="1257269" y="5569784"/>
            <a:ext cx="4782720"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HTML, CSS, JavaScript, Node.js, MongoDB, REST APIs.</a:t>
            </a:r>
            <a:endParaRPr lang="en-US" sz="1700" dirty="0"/>
          </a:p>
        </p:txBody>
      </p:sp>
      <p:pic>
        <p:nvPicPr>
          <p:cNvPr id="15" name="Image 4" descr="preencoded.png">    </p:cNvPr>
          <p:cNvPicPr>
            <a:picLocks noChangeAspect="1"/>
          </p:cNvPicPr>
          <p:nvPr/>
        </p:nvPicPr>
        <p:blipFill>
          <a:blip r:embed="rId5"/>
          <a:stretch>
            <a:fillRect/>
          </a:stretch>
        </p:blipFill>
        <p:spPr>
          <a:xfrm>
            <a:off x="7106663" y="0"/>
            <a:ext cx="5085032"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1E2328"/>
                </a:solidFill>
                <a:latin typeface="Martian Mono Medium" pitchFamily="34" charset="0"/>
                <a:ea typeface="Martian Mono Medium" pitchFamily="34" charset="-122"/>
                <a:cs typeface="Martian Mono Medium" pitchFamily="34" charset="0"/>
              </a:rPr>
              <a:t>THE NEED</a:t>
            </a:r>
            <a:endParaRPr lang="en-US" sz="1200" dirty="0"/>
          </a:p>
        </p:txBody>
      </p:sp>
      <p:sp>
        <p:nvSpPr>
          <p:cNvPr id="3" name="Text 1"/>
          <p:cNvSpPr/>
          <p:nvPr/>
        </p:nvSpPr>
        <p:spPr>
          <a:xfrm>
            <a:off x="609585" y="914672"/>
            <a:ext cx="10972526" cy="1005681"/>
          </a:xfrm>
          <a:prstGeom prst="rect">
            <a:avLst/>
          </a:prstGeom>
          <a:noFill/>
          <a:ln/>
        </p:spPr>
        <p:txBody>
          <a:bodyPr wrap="square" lIns="0" tIns="0" rIns="0" bIns="0" rtlCol="0" anchor="t">
            <a:normAutofit/>
          </a:bodyPr>
          <a:lstStyle/>
          <a:p>
            <a:pPr algn="l" indent="0" marL="0">
              <a:lnSpc>
                <a:spcPct val="92000"/>
              </a:lnSpc>
              <a:buNone/>
            </a:pPr>
            <a:r>
              <a:rPr lang="en-US" sz="3600" b="1" spc="-54" kern="100" dirty="0">
                <a:solidFill>
                  <a:srgbClr val="1E2328"/>
                </a:solidFill>
                <a:latin typeface="Syne Bold" pitchFamily="34" charset="0"/>
                <a:ea typeface="Syne Bold" pitchFamily="34" charset="-122"/>
                <a:cs typeface="Syne Bold" pitchFamily="34" charset="0"/>
              </a:rPr>
              <a:t>Manual hospital workflows create avoidable friction</a:t>
            </a:r>
            <a:endParaRPr lang="en-US" sz="3600" dirty="0"/>
          </a:p>
        </p:txBody>
      </p:sp>
      <p:sp>
        <p:nvSpPr>
          <p:cNvPr id="4" name="Shape 2"/>
          <p:cNvSpPr/>
          <p:nvPr/>
        </p:nvSpPr>
        <p:spPr>
          <a:xfrm>
            <a:off x="609585" y="2114947"/>
            <a:ext cx="5333867" cy="4014291"/>
          </a:xfrm>
          <a:prstGeom prst="roundRect">
            <a:avLst>
              <a:gd name="adj" fmla="val 3796"/>
            </a:avLst>
          </a:prstGeom>
          <a:solidFill>
            <a:srgbClr val="1E2328"/>
          </a:solidFill>
          <a:ln/>
        </p:spPr>
      </p:sp>
      <p:sp>
        <p:nvSpPr>
          <p:cNvPr id="5" name="Shape 3"/>
          <p:cNvSpPr/>
          <p:nvPr/>
        </p:nvSpPr>
        <p:spPr>
          <a:xfrm>
            <a:off x="838179" y="2343547"/>
            <a:ext cx="1571090" cy="353913"/>
          </a:xfrm>
          <a:prstGeom prst="roundRect">
            <a:avLst>
              <a:gd name="adj" fmla="val 20497"/>
            </a:avLst>
          </a:prstGeom>
          <a:noFill/>
          <a:ln w="6350">
            <a:solidFill>
              <a:srgbClr val="FFFFFF"/>
            </a:solidFill>
            <a:prstDash val="solid"/>
          </a:ln>
        </p:spPr>
      </p:sp>
      <p:sp>
        <p:nvSpPr>
          <p:cNvPr id="6" name="Text 4"/>
          <p:cNvSpPr/>
          <p:nvPr/>
        </p:nvSpPr>
        <p:spPr>
          <a:xfrm>
            <a:off x="967656" y="2418779"/>
            <a:ext cx="1921720" cy="224532"/>
          </a:xfrm>
          <a:prstGeom prst="rect">
            <a:avLst/>
          </a:prstGeom>
          <a:noFill/>
          <a:ln/>
        </p:spPr>
        <p:txBody>
          <a:bodyPr wrap="none" lIns="0" tIns="0" rIns="0" bIns="0" rtlCol="0" anchor="t"/>
          <a:lstStyle/>
          <a:p>
            <a:pPr algn="l" indent="0" marL="0">
              <a:lnSpc>
                <a:spcPct val="108000"/>
              </a:lnSpc>
              <a:buNone/>
            </a:pPr>
            <a:r>
              <a:rPr lang="en-US" sz="1350" spc="82" kern="100" dirty="0">
                <a:solidFill>
                  <a:srgbClr val="FFFFFF"/>
                </a:solidFill>
                <a:latin typeface="Martian Mono Medium" pitchFamily="34" charset="0"/>
                <a:ea typeface="Martian Mono Medium" pitchFamily="34" charset="-122"/>
                <a:cs typeface="Martian Mono Medium" pitchFamily="34" charset="0"/>
              </a:rPr>
              <a:t>OBJECTIVES</a:t>
            </a:r>
            <a:endParaRPr lang="en-US" sz="1350" dirty="0"/>
          </a:p>
        </p:txBody>
      </p:sp>
      <p:pic>
        <p:nvPicPr>
          <p:cNvPr id="7" name="Image 0" descr="preencoded.png">    </p:cNvPr>
          <p:cNvPicPr>
            <a:picLocks noChangeAspect="1"/>
          </p:cNvPicPr>
          <p:nvPr/>
        </p:nvPicPr>
        <p:blipFill>
          <a:blip r:embed="rId1"/>
          <a:stretch>
            <a:fillRect/>
          </a:stretch>
        </p:blipFill>
        <p:spPr>
          <a:xfrm>
            <a:off x="838179" y="2824460"/>
            <a:ext cx="431789" cy="431800"/>
          </a:xfrm>
          <a:prstGeom prst="rect">
            <a:avLst/>
          </a:prstGeom>
        </p:spPr>
      </p:pic>
      <p:sp>
        <p:nvSpPr>
          <p:cNvPr id="8" name="Text 5"/>
          <p:cNvSpPr/>
          <p:nvPr/>
        </p:nvSpPr>
        <p:spPr>
          <a:xfrm>
            <a:off x="838179" y="3400405"/>
            <a:ext cx="1523962" cy="274241"/>
          </a:xfrm>
          <a:prstGeom prst="rect">
            <a:avLst/>
          </a:prstGeom>
          <a:noFill/>
          <a:ln/>
        </p:spPr>
        <p:txBody>
          <a:bodyPr wrap="none" lIns="0" tIns="0" rIns="0" bIns="0" rtlCol="0" anchor="t"/>
          <a:lstStyle/>
          <a:p>
            <a:pPr algn="l" indent="0" marL="0">
              <a:lnSpc>
                <a:spcPct val="100000"/>
              </a:lnSpc>
              <a:buNone/>
            </a:pPr>
            <a:r>
              <a:rPr lang="en-US" sz="1800" dirty="0">
                <a:solidFill>
                  <a:srgbClr val="FFFFFF"/>
                </a:solidFill>
                <a:latin typeface="Lexend SemiBold" pitchFamily="34" charset="0"/>
                <a:ea typeface="Lexend SemiBold" pitchFamily="34" charset="-122"/>
                <a:cs typeface="Lexend SemiBold" pitchFamily="34" charset="0"/>
              </a:rPr>
              <a:t>Digitize</a:t>
            </a:r>
            <a:endParaRPr lang="en-US" sz="1800" dirty="0"/>
          </a:p>
        </p:txBody>
      </p:sp>
      <p:sp>
        <p:nvSpPr>
          <p:cNvPr id="9" name="Text 6"/>
          <p:cNvSpPr/>
          <p:nvPr/>
        </p:nvSpPr>
        <p:spPr>
          <a:xfrm>
            <a:off x="838179" y="3818473"/>
            <a:ext cx="1523962" cy="151110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FFFFFF"/>
                </a:solidFill>
                <a:latin typeface="Lexend" pitchFamily="34" charset="0"/>
                <a:ea typeface="Lexend" pitchFamily="34" charset="-122"/>
                <a:cs typeface="Lexend" pitchFamily="34" charset="0"/>
              </a:rPr>
              <a:t>Replace paper-based processes with a digital platform.</a:t>
            </a:r>
            <a:endParaRPr lang="en-US" sz="1700" dirty="0"/>
          </a:p>
        </p:txBody>
      </p:sp>
      <p:pic>
        <p:nvPicPr>
          <p:cNvPr id="10" name="Image 1" descr="preencoded.png">    </p:cNvPr>
          <p:cNvPicPr>
            <a:picLocks noChangeAspect="1"/>
          </p:cNvPicPr>
          <p:nvPr/>
        </p:nvPicPr>
        <p:blipFill>
          <a:blip r:embed="rId2"/>
          <a:stretch>
            <a:fillRect/>
          </a:stretch>
        </p:blipFill>
        <p:spPr>
          <a:xfrm>
            <a:off x="2514537" y="2824460"/>
            <a:ext cx="431789" cy="431800"/>
          </a:xfrm>
          <a:prstGeom prst="rect">
            <a:avLst/>
          </a:prstGeom>
        </p:spPr>
      </p:pic>
      <p:sp>
        <p:nvSpPr>
          <p:cNvPr id="11" name="Text 7"/>
          <p:cNvSpPr/>
          <p:nvPr/>
        </p:nvSpPr>
        <p:spPr>
          <a:xfrm>
            <a:off x="2514537" y="3400405"/>
            <a:ext cx="1523962" cy="548481"/>
          </a:xfrm>
          <a:prstGeom prst="rect">
            <a:avLst/>
          </a:prstGeom>
          <a:noFill/>
          <a:ln/>
        </p:spPr>
        <p:txBody>
          <a:bodyPr wrap="square" lIns="0" tIns="0" rIns="0" bIns="0" rtlCol="0" anchor="t">
            <a:normAutofit/>
          </a:bodyPr>
          <a:lstStyle/>
          <a:p>
            <a:pPr algn="l" indent="0" marL="0">
              <a:lnSpc>
                <a:spcPct val="100000"/>
              </a:lnSpc>
              <a:buNone/>
            </a:pPr>
            <a:r>
              <a:rPr lang="en-US" sz="1800" dirty="0">
                <a:solidFill>
                  <a:srgbClr val="FFFFFF"/>
                </a:solidFill>
                <a:latin typeface="Lexend SemiBold" pitchFamily="34" charset="0"/>
                <a:ea typeface="Lexend SemiBold" pitchFamily="34" charset="-122"/>
                <a:cs typeface="Lexend SemiBold" pitchFamily="34" charset="0"/>
              </a:rPr>
              <a:t>Control access</a:t>
            </a:r>
            <a:endParaRPr lang="en-US" sz="1800" dirty="0"/>
          </a:p>
        </p:txBody>
      </p:sp>
      <p:sp>
        <p:nvSpPr>
          <p:cNvPr id="12" name="Text 8"/>
          <p:cNvSpPr/>
          <p:nvPr/>
        </p:nvSpPr>
        <p:spPr>
          <a:xfrm>
            <a:off x="2514537" y="4092714"/>
            <a:ext cx="1523962" cy="181332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FFFFFF"/>
                </a:solidFill>
                <a:latin typeface="Lexend" pitchFamily="34" charset="0"/>
                <a:ea typeface="Lexend" pitchFamily="34" charset="-122"/>
                <a:cs typeface="Lexend" pitchFamily="34" charset="0"/>
              </a:rPr>
              <a:t>Secure role-based access, patient records, scheduling and billing.</a:t>
            </a:r>
            <a:endParaRPr lang="en-US" sz="1700" dirty="0"/>
          </a:p>
        </p:txBody>
      </p:sp>
      <p:pic>
        <p:nvPicPr>
          <p:cNvPr id="13" name="Image 2" descr="preencoded.png">    </p:cNvPr>
          <p:cNvPicPr>
            <a:picLocks noChangeAspect="1"/>
          </p:cNvPicPr>
          <p:nvPr/>
        </p:nvPicPr>
        <p:blipFill>
          <a:blip r:embed="rId3"/>
          <a:stretch>
            <a:fillRect/>
          </a:stretch>
        </p:blipFill>
        <p:spPr>
          <a:xfrm>
            <a:off x="4190895" y="2824460"/>
            <a:ext cx="431789" cy="431800"/>
          </a:xfrm>
          <a:prstGeom prst="rect">
            <a:avLst/>
          </a:prstGeom>
        </p:spPr>
      </p:pic>
      <p:sp>
        <p:nvSpPr>
          <p:cNvPr id="14" name="Text 9"/>
          <p:cNvSpPr/>
          <p:nvPr/>
        </p:nvSpPr>
        <p:spPr>
          <a:xfrm>
            <a:off x="4190895" y="3400405"/>
            <a:ext cx="1523962" cy="548481"/>
          </a:xfrm>
          <a:prstGeom prst="rect">
            <a:avLst/>
          </a:prstGeom>
          <a:noFill/>
          <a:ln/>
        </p:spPr>
        <p:txBody>
          <a:bodyPr wrap="square" lIns="0" tIns="0" rIns="0" bIns="0" rtlCol="0" anchor="t">
            <a:normAutofit/>
          </a:bodyPr>
          <a:lstStyle/>
          <a:p>
            <a:pPr algn="l" indent="0" marL="0">
              <a:lnSpc>
                <a:spcPct val="100000"/>
              </a:lnSpc>
              <a:buNone/>
            </a:pPr>
            <a:r>
              <a:rPr lang="en-US" sz="1800" dirty="0">
                <a:solidFill>
                  <a:srgbClr val="FFFFFF"/>
                </a:solidFill>
                <a:latin typeface="Lexend SemiBold" pitchFamily="34" charset="0"/>
                <a:ea typeface="Lexend SemiBold" pitchFamily="34" charset="-122"/>
                <a:cs typeface="Lexend SemiBold" pitchFamily="34" charset="0"/>
              </a:rPr>
              <a:t>Reduce friction</a:t>
            </a:r>
            <a:endParaRPr lang="en-US" sz="1800" dirty="0"/>
          </a:p>
        </p:txBody>
      </p:sp>
      <p:sp>
        <p:nvSpPr>
          <p:cNvPr id="15" name="Text 10"/>
          <p:cNvSpPr/>
          <p:nvPr/>
        </p:nvSpPr>
        <p:spPr>
          <a:xfrm>
            <a:off x="4190895" y="4092714"/>
            <a:ext cx="1523962" cy="151110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FFFFFF"/>
                </a:solidFill>
                <a:latin typeface="Lexend" pitchFamily="34" charset="0"/>
                <a:ea typeface="Lexend" pitchFamily="34" charset="-122"/>
                <a:cs typeface="Lexend" pitchFamily="34" charset="0"/>
              </a:rPr>
              <a:t>Reduce workload, errors and redundant data.</a:t>
            </a:r>
            <a:endParaRPr lang="en-US" sz="1700" dirty="0"/>
          </a:p>
        </p:txBody>
      </p:sp>
      <p:sp>
        <p:nvSpPr>
          <p:cNvPr id="16" name="Shape 11"/>
          <p:cNvSpPr/>
          <p:nvPr/>
        </p:nvSpPr>
        <p:spPr>
          <a:xfrm>
            <a:off x="6248244" y="2114947"/>
            <a:ext cx="5333867" cy="4014291"/>
          </a:xfrm>
          <a:prstGeom prst="roundRect">
            <a:avLst>
              <a:gd name="adj" fmla="val 3796"/>
            </a:avLst>
          </a:prstGeom>
          <a:solidFill>
            <a:srgbClr val="F4F6F8"/>
          </a:solidFill>
          <a:ln/>
        </p:spPr>
      </p:sp>
      <p:sp>
        <p:nvSpPr>
          <p:cNvPr id="17" name="Shape 12"/>
          <p:cNvSpPr/>
          <p:nvPr/>
        </p:nvSpPr>
        <p:spPr>
          <a:xfrm>
            <a:off x="6476838" y="2343547"/>
            <a:ext cx="3407980" cy="353913"/>
          </a:xfrm>
          <a:prstGeom prst="roundRect">
            <a:avLst>
              <a:gd name="adj" fmla="val 20497"/>
            </a:avLst>
          </a:prstGeom>
          <a:solidFill>
            <a:srgbClr val="F25A3C"/>
          </a:solidFill>
          <a:ln/>
        </p:spPr>
      </p:sp>
      <p:sp>
        <p:nvSpPr>
          <p:cNvPr id="18" name="Text 13"/>
          <p:cNvSpPr/>
          <p:nvPr/>
        </p:nvSpPr>
        <p:spPr>
          <a:xfrm>
            <a:off x="6606315" y="2418779"/>
            <a:ext cx="3758610" cy="224532"/>
          </a:xfrm>
          <a:prstGeom prst="rect">
            <a:avLst/>
          </a:prstGeom>
          <a:noFill/>
          <a:ln/>
        </p:spPr>
        <p:txBody>
          <a:bodyPr wrap="none" lIns="0" tIns="0" rIns="0" bIns="0" rtlCol="0" anchor="t"/>
          <a:lstStyle/>
          <a:p>
            <a:pPr algn="l" indent="0" marL="0">
              <a:lnSpc>
                <a:spcPct val="108000"/>
              </a:lnSpc>
              <a:buNone/>
            </a:pPr>
            <a:r>
              <a:rPr lang="en-US" sz="1350" spc="82" kern="100" dirty="0">
                <a:solidFill>
                  <a:srgbClr val="1E2328"/>
                </a:solidFill>
                <a:latin typeface="Martian Mono Medium" pitchFamily="34" charset="0"/>
                <a:ea typeface="Martian Mono Medium" pitchFamily="34" charset="-122"/>
                <a:cs typeface="Martian Mono Medium" pitchFamily="34" charset="0"/>
              </a:rPr>
              <a:t>EXISTING-SYSTEM PROBLEMS</a:t>
            </a:r>
            <a:endParaRPr lang="en-US" sz="1350" dirty="0"/>
          </a:p>
        </p:txBody>
      </p:sp>
      <p:sp>
        <p:nvSpPr>
          <p:cNvPr id="19" name="Text 14"/>
          <p:cNvSpPr/>
          <p:nvPr/>
        </p:nvSpPr>
        <p:spPr>
          <a:xfrm>
            <a:off x="6476838" y="2824460"/>
            <a:ext cx="4876678" cy="1921272"/>
          </a:xfrm>
          <a:prstGeom prst="rect">
            <a:avLst/>
          </a:prstGeom>
          <a:noFill/>
          <a:ln/>
        </p:spPr>
        <p:txBody>
          <a:bodyPr wrap="square" lIns="0" tIns="0" rIns="0" bIns="0" rtlCol="0" anchor="t">
            <a:normAutofit/>
          </a:bodyPr>
          <a:lstStyle/>
          <a:p>
            <a:pPr algn="l" marL="345440" indent="-345440">
              <a:lnSpc>
                <a:spcPct val="117000"/>
              </a:lnSpc>
              <a:buSzPct val="100000"/>
              <a:buChar char="•"/>
            </a:pPr>
            <a:r>
              <a:rPr lang="en-US" sz="1700" dirty="0">
                <a:solidFill>
                  <a:srgbClr val="1E2328"/>
                </a:solidFill>
                <a:latin typeface="Lexend" pitchFamily="34" charset="0"/>
                <a:ea typeface="Lexend" pitchFamily="34" charset="-122"/>
                <a:cs typeface="Lexend" pitchFamily="34" charset="0"/>
              </a:rPr>
              <a:t>Paper records, manual appointments and billing</a:t>
            </a:r>
            <a:endParaRPr lang="en-US" sz="1700" dirty="0"/>
          </a:p>
          <a:p>
            <a:pPr algn="l" marL="345440" indent="-345440">
              <a:lnSpc>
                <a:spcPct val="117000"/>
              </a:lnSpc>
              <a:buSzPct val="100000"/>
              <a:buChar char="•"/>
            </a:pPr>
            <a:r>
              <a:rPr lang="en-US" sz="1700" dirty="0">
                <a:solidFill>
                  <a:srgbClr val="1E2328"/>
                </a:solidFill>
                <a:latin typeface="Lexend" pitchFamily="34" charset="0"/>
                <a:ea typeface="Lexend" pitchFamily="34" charset="-122"/>
                <a:cs typeface="Lexend" pitchFamily="34" charset="0"/>
              </a:rPr>
              <a:t>No centralized data or consistent access control</a:t>
            </a:r>
            <a:endParaRPr lang="en-US" sz="1700" dirty="0"/>
          </a:p>
          <a:p>
            <a:pPr algn="l" marL="345440" indent="-345440">
              <a:lnSpc>
                <a:spcPct val="117000"/>
              </a:lnSpc>
              <a:buSzPct val="100000"/>
              <a:buChar char="•"/>
            </a:pPr>
            <a:r>
              <a:rPr lang="en-US" sz="1700" dirty="0">
                <a:solidFill>
                  <a:srgbClr val="1E2328"/>
                </a:solidFill>
                <a:latin typeface="Lexend" pitchFamily="34" charset="0"/>
                <a:ea typeface="Lexend" pitchFamily="34" charset="-122"/>
                <a:cs typeface="Lexend" pitchFamily="34" charset="0"/>
              </a:rPr>
              <a:t>Slow retrieval, weak security and limited accessibility</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28650"/>
            <a:ext cx="10972526" cy="838200"/>
          </a:xfrm>
          <a:prstGeom prst="rect">
            <a:avLst/>
          </a:prstGeom>
          <a:noFill/>
          <a:ln/>
        </p:spPr>
        <p:txBody>
          <a:bodyPr wrap="square" lIns="0" tIns="0" rIns="0" bIns="0" rtlCol="0" anchor="t">
            <a:normAutofit/>
          </a:bodyPr>
          <a:lstStyle/>
          <a:p>
            <a:pPr algn="l" indent="0" marL="0">
              <a:lnSpc>
                <a:spcPct val="92000"/>
              </a:lnSpc>
              <a:buNone/>
            </a:pPr>
            <a:r>
              <a:rPr lang="en-US" sz="3000" b="1" spc="-45" kern="100" dirty="0">
                <a:solidFill>
                  <a:srgbClr val="1E2328"/>
                </a:solidFill>
                <a:latin typeface="Syne Bold" pitchFamily="34" charset="0"/>
                <a:ea typeface="Syne Bold" pitchFamily="34" charset="-122"/>
                <a:cs typeface="Syne Bold" pitchFamily="34" charset="0"/>
              </a:rPr>
              <a:t>One centralized system connects every core capability</a:t>
            </a:r>
            <a:endParaRPr lang="en-US" sz="3000" dirty="0"/>
          </a:p>
        </p:txBody>
      </p:sp>
      <p:sp>
        <p:nvSpPr>
          <p:cNvPr id="3" name="Shape 1"/>
          <p:cNvSpPr/>
          <p:nvPr/>
        </p:nvSpPr>
        <p:spPr>
          <a:xfrm>
            <a:off x="609585" y="1663700"/>
            <a:ext cx="2666933" cy="1953022"/>
          </a:xfrm>
          <a:prstGeom prst="roundRect">
            <a:avLst>
              <a:gd name="adj" fmla="val 7803"/>
            </a:avLst>
          </a:prstGeom>
          <a:solidFill>
            <a:srgbClr val="F4F6F8"/>
          </a:solidFill>
          <a:ln w="25399">
            <a:solidFill>
              <a:srgbClr val="D84022"/>
            </a:solidFill>
            <a:prstDash val="solid"/>
          </a:ln>
        </p:spPr>
      </p:sp>
      <p:sp>
        <p:nvSpPr>
          <p:cNvPr id="4" name="Shape 2"/>
          <p:cNvSpPr/>
          <p:nvPr/>
        </p:nvSpPr>
        <p:spPr>
          <a:xfrm>
            <a:off x="787380" y="1841500"/>
            <a:ext cx="647684" cy="647700"/>
          </a:xfrm>
          <a:prstGeom prst="roundRect">
            <a:avLst>
              <a:gd name="adj" fmla="val 10000"/>
            </a:avLst>
          </a:prstGeom>
          <a:solidFill>
            <a:srgbClr val="F25A3C"/>
          </a:solidFill>
          <a:ln/>
        </p:spPr>
      </p:sp>
      <p:pic>
        <p:nvPicPr>
          <p:cNvPr id="5" name="Image 0" descr="preencoded.png">    </p:cNvPr>
          <p:cNvPicPr>
            <a:picLocks noChangeAspect="1"/>
          </p:cNvPicPr>
          <p:nvPr/>
        </p:nvPicPr>
        <p:blipFill>
          <a:blip r:embed="rId1"/>
          <a:stretch>
            <a:fillRect/>
          </a:stretch>
        </p:blipFill>
        <p:spPr>
          <a:xfrm>
            <a:off x="949301" y="2003425"/>
            <a:ext cx="323842" cy="323850"/>
          </a:xfrm>
          <a:prstGeom prst="rect">
            <a:avLst/>
          </a:prstGeom>
        </p:spPr>
      </p:pic>
      <p:sp>
        <p:nvSpPr>
          <p:cNvPr id="6" name="Text 3"/>
          <p:cNvSpPr/>
          <p:nvPr/>
        </p:nvSpPr>
        <p:spPr>
          <a:xfrm>
            <a:off x="787380" y="2633345"/>
            <a:ext cx="2311342" cy="274241"/>
          </a:xfrm>
          <a:prstGeom prst="rect">
            <a:avLst/>
          </a:prstGeom>
          <a:noFill/>
          <a:ln/>
        </p:spPr>
        <p:txBody>
          <a:bodyPr wrap="none" lIns="0" tIns="0" rIns="0" bIns="0" rtlCol="0" anchor="t"/>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Role-based login</a:t>
            </a:r>
            <a:endParaRPr lang="en-US" sz="1800" dirty="0"/>
          </a:p>
        </p:txBody>
      </p:sp>
      <p:sp>
        <p:nvSpPr>
          <p:cNvPr id="7" name="Shape 4"/>
          <p:cNvSpPr/>
          <p:nvPr/>
        </p:nvSpPr>
        <p:spPr>
          <a:xfrm>
            <a:off x="3428914" y="1663700"/>
            <a:ext cx="2590735" cy="1953022"/>
          </a:xfrm>
          <a:prstGeom prst="roundRect">
            <a:avLst>
              <a:gd name="adj" fmla="val 7803"/>
            </a:avLst>
          </a:prstGeom>
          <a:solidFill>
            <a:srgbClr val="F4F6F8"/>
          </a:solidFill>
          <a:ln w="25399">
            <a:solidFill>
              <a:srgbClr val="D84022"/>
            </a:solidFill>
            <a:prstDash val="solid"/>
          </a:ln>
        </p:spPr>
      </p:sp>
      <p:sp>
        <p:nvSpPr>
          <p:cNvPr id="8" name="Shape 5"/>
          <p:cNvSpPr/>
          <p:nvPr/>
        </p:nvSpPr>
        <p:spPr>
          <a:xfrm>
            <a:off x="3606710" y="1841500"/>
            <a:ext cx="647684" cy="647700"/>
          </a:xfrm>
          <a:prstGeom prst="roundRect">
            <a:avLst>
              <a:gd name="adj" fmla="val 10000"/>
            </a:avLst>
          </a:prstGeom>
          <a:solidFill>
            <a:srgbClr val="F25A3C"/>
          </a:solidFill>
          <a:ln/>
        </p:spPr>
      </p:sp>
      <p:pic>
        <p:nvPicPr>
          <p:cNvPr id="9" name="Image 1" descr="preencoded.png">    </p:cNvPr>
          <p:cNvPicPr>
            <a:picLocks noChangeAspect="1"/>
          </p:cNvPicPr>
          <p:nvPr/>
        </p:nvPicPr>
        <p:blipFill>
          <a:blip r:embed="rId2"/>
          <a:stretch>
            <a:fillRect/>
          </a:stretch>
        </p:blipFill>
        <p:spPr>
          <a:xfrm>
            <a:off x="3768631" y="2003425"/>
            <a:ext cx="323842" cy="323850"/>
          </a:xfrm>
          <a:prstGeom prst="rect">
            <a:avLst/>
          </a:prstGeom>
        </p:spPr>
      </p:pic>
      <p:sp>
        <p:nvSpPr>
          <p:cNvPr id="10" name="Text 6"/>
          <p:cNvSpPr/>
          <p:nvPr/>
        </p:nvSpPr>
        <p:spPr>
          <a:xfrm>
            <a:off x="3606710" y="2633345"/>
            <a:ext cx="2235144" cy="822722"/>
          </a:xfrm>
          <a:prstGeom prst="rect">
            <a:avLst/>
          </a:prstGeom>
          <a:noFill/>
          <a:ln/>
        </p:spPr>
        <p:txBody>
          <a:bodyPr wrap="square" lIns="0" tIns="0" rIns="0" bIns="0" rtlCol="0" anchor="t">
            <a:normAutofit/>
          </a:bodyPr>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Patient add / update / view / delete</a:t>
            </a:r>
            <a:endParaRPr lang="en-US" sz="1800" dirty="0"/>
          </a:p>
        </p:txBody>
      </p:sp>
      <p:sp>
        <p:nvSpPr>
          <p:cNvPr id="11" name="Shape 7"/>
          <p:cNvSpPr/>
          <p:nvPr/>
        </p:nvSpPr>
        <p:spPr>
          <a:xfrm>
            <a:off x="6172046" y="1663700"/>
            <a:ext cx="2590735" cy="1953022"/>
          </a:xfrm>
          <a:prstGeom prst="roundRect">
            <a:avLst>
              <a:gd name="adj" fmla="val 7803"/>
            </a:avLst>
          </a:prstGeom>
          <a:solidFill>
            <a:srgbClr val="F4F6F8"/>
          </a:solidFill>
          <a:ln w="25399">
            <a:solidFill>
              <a:srgbClr val="D84022"/>
            </a:solidFill>
            <a:prstDash val="solid"/>
          </a:ln>
        </p:spPr>
      </p:sp>
      <p:sp>
        <p:nvSpPr>
          <p:cNvPr id="12" name="Shape 8"/>
          <p:cNvSpPr/>
          <p:nvPr/>
        </p:nvSpPr>
        <p:spPr>
          <a:xfrm>
            <a:off x="6349841" y="1841500"/>
            <a:ext cx="647684" cy="647700"/>
          </a:xfrm>
          <a:prstGeom prst="roundRect">
            <a:avLst>
              <a:gd name="adj" fmla="val 10000"/>
            </a:avLst>
          </a:prstGeom>
          <a:solidFill>
            <a:srgbClr val="F25A3C"/>
          </a:solidFill>
          <a:ln/>
        </p:spPr>
      </p:sp>
      <p:pic>
        <p:nvPicPr>
          <p:cNvPr id="13" name="Image 2" descr="preencoded.png">    </p:cNvPr>
          <p:cNvPicPr>
            <a:picLocks noChangeAspect="1"/>
          </p:cNvPicPr>
          <p:nvPr/>
        </p:nvPicPr>
        <p:blipFill>
          <a:blip r:embed="rId3"/>
          <a:stretch>
            <a:fillRect/>
          </a:stretch>
        </p:blipFill>
        <p:spPr>
          <a:xfrm>
            <a:off x="6511762" y="2003425"/>
            <a:ext cx="323842" cy="323850"/>
          </a:xfrm>
          <a:prstGeom prst="rect">
            <a:avLst/>
          </a:prstGeom>
        </p:spPr>
      </p:pic>
      <p:sp>
        <p:nvSpPr>
          <p:cNvPr id="14" name="Text 9"/>
          <p:cNvSpPr/>
          <p:nvPr/>
        </p:nvSpPr>
        <p:spPr>
          <a:xfrm>
            <a:off x="6349841" y="2633345"/>
            <a:ext cx="2235144" cy="548481"/>
          </a:xfrm>
          <a:prstGeom prst="rect">
            <a:avLst/>
          </a:prstGeom>
          <a:noFill/>
          <a:ln/>
        </p:spPr>
        <p:txBody>
          <a:bodyPr wrap="square" lIns="0" tIns="0" rIns="0" bIns="0" rtlCol="0" anchor="t">
            <a:normAutofit/>
          </a:bodyPr>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Doctor management</a:t>
            </a:r>
            <a:endParaRPr lang="en-US" sz="1800" dirty="0"/>
          </a:p>
        </p:txBody>
      </p:sp>
      <p:sp>
        <p:nvSpPr>
          <p:cNvPr id="15" name="Shape 10"/>
          <p:cNvSpPr/>
          <p:nvPr/>
        </p:nvSpPr>
        <p:spPr>
          <a:xfrm>
            <a:off x="8915177" y="1663700"/>
            <a:ext cx="2666933" cy="1953022"/>
          </a:xfrm>
          <a:prstGeom prst="roundRect">
            <a:avLst>
              <a:gd name="adj" fmla="val 7803"/>
            </a:avLst>
          </a:prstGeom>
          <a:solidFill>
            <a:srgbClr val="F4F6F8"/>
          </a:solidFill>
          <a:ln w="25399">
            <a:solidFill>
              <a:srgbClr val="D84022"/>
            </a:solidFill>
            <a:prstDash val="solid"/>
          </a:ln>
        </p:spPr>
      </p:sp>
      <p:sp>
        <p:nvSpPr>
          <p:cNvPr id="16" name="Shape 11"/>
          <p:cNvSpPr/>
          <p:nvPr/>
        </p:nvSpPr>
        <p:spPr>
          <a:xfrm>
            <a:off x="9092973" y="1841500"/>
            <a:ext cx="647684" cy="647700"/>
          </a:xfrm>
          <a:prstGeom prst="roundRect">
            <a:avLst>
              <a:gd name="adj" fmla="val 10000"/>
            </a:avLst>
          </a:prstGeom>
          <a:solidFill>
            <a:srgbClr val="F25A3C"/>
          </a:solidFill>
          <a:ln/>
        </p:spPr>
      </p:sp>
      <p:pic>
        <p:nvPicPr>
          <p:cNvPr id="17" name="Image 3" descr="preencoded.png">    </p:cNvPr>
          <p:cNvPicPr>
            <a:picLocks noChangeAspect="1"/>
          </p:cNvPicPr>
          <p:nvPr/>
        </p:nvPicPr>
        <p:blipFill>
          <a:blip r:embed="rId4"/>
          <a:stretch>
            <a:fillRect/>
          </a:stretch>
        </p:blipFill>
        <p:spPr>
          <a:xfrm>
            <a:off x="9254893" y="2003425"/>
            <a:ext cx="323842" cy="323850"/>
          </a:xfrm>
          <a:prstGeom prst="rect">
            <a:avLst/>
          </a:prstGeom>
        </p:spPr>
      </p:pic>
      <p:sp>
        <p:nvSpPr>
          <p:cNvPr id="18" name="Text 12"/>
          <p:cNvSpPr/>
          <p:nvPr/>
        </p:nvSpPr>
        <p:spPr>
          <a:xfrm>
            <a:off x="9092973" y="2633345"/>
            <a:ext cx="2311342" cy="822722"/>
          </a:xfrm>
          <a:prstGeom prst="rect">
            <a:avLst/>
          </a:prstGeom>
          <a:noFill/>
          <a:ln/>
        </p:spPr>
        <p:txBody>
          <a:bodyPr wrap="square" lIns="0" tIns="0" rIns="0" bIns="0" rtlCol="0" anchor="t">
            <a:normAutofit/>
          </a:bodyPr>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Appointment scheduling with conflict check</a:t>
            </a:r>
            <a:endParaRPr lang="en-US" sz="1800" dirty="0"/>
          </a:p>
        </p:txBody>
      </p:sp>
      <p:sp>
        <p:nvSpPr>
          <p:cNvPr id="19" name="Shape 13"/>
          <p:cNvSpPr/>
          <p:nvPr/>
        </p:nvSpPr>
        <p:spPr>
          <a:xfrm>
            <a:off x="609585" y="3769122"/>
            <a:ext cx="2666933" cy="1678781"/>
          </a:xfrm>
          <a:prstGeom prst="roundRect">
            <a:avLst>
              <a:gd name="adj" fmla="val 9078"/>
            </a:avLst>
          </a:prstGeom>
          <a:solidFill>
            <a:srgbClr val="F4F6F8"/>
          </a:solidFill>
          <a:ln w="25399">
            <a:solidFill>
              <a:srgbClr val="D84022"/>
            </a:solidFill>
            <a:prstDash val="solid"/>
          </a:ln>
        </p:spPr>
      </p:sp>
      <p:sp>
        <p:nvSpPr>
          <p:cNvPr id="20" name="Shape 14"/>
          <p:cNvSpPr/>
          <p:nvPr/>
        </p:nvSpPr>
        <p:spPr>
          <a:xfrm>
            <a:off x="787380" y="3946922"/>
            <a:ext cx="647684" cy="647700"/>
          </a:xfrm>
          <a:prstGeom prst="roundRect">
            <a:avLst>
              <a:gd name="adj" fmla="val 10000"/>
            </a:avLst>
          </a:prstGeom>
          <a:solidFill>
            <a:srgbClr val="F25A3C"/>
          </a:solidFill>
          <a:ln/>
        </p:spPr>
      </p:sp>
      <p:pic>
        <p:nvPicPr>
          <p:cNvPr id="21" name="Image 4" descr="preencoded.png">    </p:cNvPr>
          <p:cNvPicPr>
            <a:picLocks noChangeAspect="1"/>
          </p:cNvPicPr>
          <p:nvPr/>
        </p:nvPicPr>
        <p:blipFill>
          <a:blip r:embed="rId5"/>
          <a:stretch>
            <a:fillRect/>
          </a:stretch>
        </p:blipFill>
        <p:spPr>
          <a:xfrm>
            <a:off x="949301" y="4108847"/>
            <a:ext cx="323842" cy="323850"/>
          </a:xfrm>
          <a:prstGeom prst="rect">
            <a:avLst/>
          </a:prstGeom>
        </p:spPr>
      </p:pic>
      <p:sp>
        <p:nvSpPr>
          <p:cNvPr id="22" name="Text 15"/>
          <p:cNvSpPr/>
          <p:nvPr/>
        </p:nvSpPr>
        <p:spPr>
          <a:xfrm>
            <a:off x="787380" y="4738767"/>
            <a:ext cx="2311342" cy="548481"/>
          </a:xfrm>
          <a:prstGeom prst="rect">
            <a:avLst/>
          </a:prstGeom>
          <a:noFill/>
          <a:ln/>
        </p:spPr>
        <p:txBody>
          <a:bodyPr wrap="square" lIns="0" tIns="0" rIns="0" bIns="0" rtlCol="0" anchor="t">
            <a:normAutofit/>
          </a:bodyPr>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Automatic bill generation</a:t>
            </a:r>
            <a:endParaRPr lang="en-US" sz="1800" dirty="0"/>
          </a:p>
        </p:txBody>
      </p:sp>
      <p:sp>
        <p:nvSpPr>
          <p:cNvPr id="23" name="Shape 16"/>
          <p:cNvSpPr/>
          <p:nvPr/>
        </p:nvSpPr>
        <p:spPr>
          <a:xfrm>
            <a:off x="3428914" y="3769122"/>
            <a:ext cx="2590735" cy="1678781"/>
          </a:xfrm>
          <a:prstGeom prst="roundRect">
            <a:avLst>
              <a:gd name="adj" fmla="val 9078"/>
            </a:avLst>
          </a:prstGeom>
          <a:solidFill>
            <a:srgbClr val="F4F6F8"/>
          </a:solidFill>
          <a:ln w="25399">
            <a:solidFill>
              <a:srgbClr val="D84022"/>
            </a:solidFill>
            <a:prstDash val="solid"/>
          </a:ln>
        </p:spPr>
      </p:sp>
      <p:sp>
        <p:nvSpPr>
          <p:cNvPr id="24" name="Shape 17"/>
          <p:cNvSpPr/>
          <p:nvPr/>
        </p:nvSpPr>
        <p:spPr>
          <a:xfrm>
            <a:off x="3606710" y="3946922"/>
            <a:ext cx="647684" cy="647700"/>
          </a:xfrm>
          <a:prstGeom prst="roundRect">
            <a:avLst>
              <a:gd name="adj" fmla="val 10000"/>
            </a:avLst>
          </a:prstGeom>
          <a:solidFill>
            <a:srgbClr val="F25A3C"/>
          </a:solidFill>
          <a:ln/>
        </p:spPr>
      </p:sp>
      <p:pic>
        <p:nvPicPr>
          <p:cNvPr id="25" name="Image 5" descr="preencoded.png">    </p:cNvPr>
          <p:cNvPicPr>
            <a:picLocks noChangeAspect="1"/>
          </p:cNvPicPr>
          <p:nvPr/>
        </p:nvPicPr>
        <p:blipFill>
          <a:blip r:embed="rId6"/>
          <a:stretch>
            <a:fillRect/>
          </a:stretch>
        </p:blipFill>
        <p:spPr>
          <a:xfrm>
            <a:off x="3768631" y="4108847"/>
            <a:ext cx="323842" cy="323850"/>
          </a:xfrm>
          <a:prstGeom prst="rect">
            <a:avLst/>
          </a:prstGeom>
        </p:spPr>
      </p:pic>
      <p:sp>
        <p:nvSpPr>
          <p:cNvPr id="26" name="Text 18"/>
          <p:cNvSpPr/>
          <p:nvPr/>
        </p:nvSpPr>
        <p:spPr>
          <a:xfrm>
            <a:off x="3606710" y="4738767"/>
            <a:ext cx="2235144" cy="548481"/>
          </a:xfrm>
          <a:prstGeom prst="rect">
            <a:avLst/>
          </a:prstGeom>
          <a:noFill/>
          <a:ln/>
        </p:spPr>
        <p:txBody>
          <a:bodyPr wrap="square" lIns="0" tIns="0" rIns="0" bIns="0" rtlCol="0" anchor="t">
            <a:normAutofit/>
          </a:bodyPr>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Role-specific dashboards</a:t>
            </a:r>
            <a:endParaRPr lang="en-US" sz="1800" dirty="0"/>
          </a:p>
        </p:txBody>
      </p:sp>
      <p:sp>
        <p:nvSpPr>
          <p:cNvPr id="27" name="Shape 19"/>
          <p:cNvSpPr/>
          <p:nvPr/>
        </p:nvSpPr>
        <p:spPr>
          <a:xfrm>
            <a:off x="6172046" y="3769122"/>
            <a:ext cx="2590735" cy="1678781"/>
          </a:xfrm>
          <a:prstGeom prst="roundRect">
            <a:avLst>
              <a:gd name="adj" fmla="val 9078"/>
            </a:avLst>
          </a:prstGeom>
          <a:solidFill>
            <a:srgbClr val="F4F6F8"/>
          </a:solidFill>
          <a:ln w="25399">
            <a:solidFill>
              <a:srgbClr val="D84022"/>
            </a:solidFill>
            <a:prstDash val="solid"/>
          </a:ln>
        </p:spPr>
      </p:sp>
      <p:sp>
        <p:nvSpPr>
          <p:cNvPr id="28" name="Shape 20"/>
          <p:cNvSpPr/>
          <p:nvPr/>
        </p:nvSpPr>
        <p:spPr>
          <a:xfrm>
            <a:off x="6349841" y="3946922"/>
            <a:ext cx="647684" cy="647700"/>
          </a:xfrm>
          <a:prstGeom prst="roundRect">
            <a:avLst>
              <a:gd name="adj" fmla="val 10000"/>
            </a:avLst>
          </a:prstGeom>
          <a:solidFill>
            <a:srgbClr val="F25A3C"/>
          </a:solidFill>
          <a:ln/>
        </p:spPr>
      </p:sp>
      <p:pic>
        <p:nvPicPr>
          <p:cNvPr id="29" name="Image 6" descr="preencoded.png">    </p:cNvPr>
          <p:cNvPicPr>
            <a:picLocks noChangeAspect="1"/>
          </p:cNvPicPr>
          <p:nvPr/>
        </p:nvPicPr>
        <p:blipFill>
          <a:blip r:embed="rId7"/>
          <a:stretch>
            <a:fillRect/>
          </a:stretch>
        </p:blipFill>
        <p:spPr>
          <a:xfrm>
            <a:off x="6511762" y="4108847"/>
            <a:ext cx="323842" cy="323850"/>
          </a:xfrm>
          <a:prstGeom prst="rect">
            <a:avLst/>
          </a:prstGeom>
        </p:spPr>
      </p:pic>
      <p:sp>
        <p:nvSpPr>
          <p:cNvPr id="30" name="Text 21"/>
          <p:cNvSpPr/>
          <p:nvPr/>
        </p:nvSpPr>
        <p:spPr>
          <a:xfrm>
            <a:off x="6349841" y="4738767"/>
            <a:ext cx="2235144" cy="548481"/>
          </a:xfrm>
          <a:prstGeom prst="rect">
            <a:avLst/>
          </a:prstGeom>
          <a:noFill/>
          <a:ln/>
        </p:spPr>
        <p:txBody>
          <a:bodyPr wrap="square" lIns="0" tIns="0" rIns="0" bIns="0" rtlCol="0" anchor="t">
            <a:normAutofit/>
          </a:bodyPr>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Real-time data access</a:t>
            </a:r>
            <a:endParaRPr lang="en-US" sz="1800" dirty="0"/>
          </a:p>
        </p:txBody>
      </p:sp>
      <p:sp>
        <p:nvSpPr>
          <p:cNvPr id="31" name="Shape 22"/>
          <p:cNvSpPr/>
          <p:nvPr/>
        </p:nvSpPr>
        <p:spPr>
          <a:xfrm>
            <a:off x="8915177" y="3769122"/>
            <a:ext cx="2666933" cy="1678781"/>
          </a:xfrm>
          <a:prstGeom prst="roundRect">
            <a:avLst>
              <a:gd name="adj" fmla="val 9078"/>
            </a:avLst>
          </a:prstGeom>
          <a:solidFill>
            <a:srgbClr val="F4F6F8"/>
          </a:solidFill>
          <a:ln w="25399">
            <a:solidFill>
              <a:srgbClr val="D84022"/>
            </a:solidFill>
            <a:prstDash val="solid"/>
          </a:ln>
        </p:spPr>
      </p:sp>
      <p:sp>
        <p:nvSpPr>
          <p:cNvPr id="32" name="Shape 23"/>
          <p:cNvSpPr/>
          <p:nvPr/>
        </p:nvSpPr>
        <p:spPr>
          <a:xfrm>
            <a:off x="9092973" y="3946922"/>
            <a:ext cx="647684" cy="647700"/>
          </a:xfrm>
          <a:prstGeom prst="roundRect">
            <a:avLst>
              <a:gd name="adj" fmla="val 10000"/>
            </a:avLst>
          </a:prstGeom>
          <a:solidFill>
            <a:srgbClr val="F25A3C"/>
          </a:solidFill>
          <a:ln/>
        </p:spPr>
      </p:sp>
      <p:pic>
        <p:nvPicPr>
          <p:cNvPr id="33" name="Image 7" descr="preencoded.png">    </p:cNvPr>
          <p:cNvPicPr>
            <a:picLocks noChangeAspect="1"/>
          </p:cNvPicPr>
          <p:nvPr/>
        </p:nvPicPr>
        <p:blipFill>
          <a:blip r:embed="rId8"/>
          <a:stretch>
            <a:fillRect/>
          </a:stretch>
        </p:blipFill>
        <p:spPr>
          <a:xfrm>
            <a:off x="9254893" y="4108847"/>
            <a:ext cx="323842" cy="323850"/>
          </a:xfrm>
          <a:prstGeom prst="rect">
            <a:avLst/>
          </a:prstGeom>
        </p:spPr>
      </p:pic>
      <p:sp>
        <p:nvSpPr>
          <p:cNvPr id="34" name="Text 24"/>
          <p:cNvSpPr/>
          <p:nvPr/>
        </p:nvSpPr>
        <p:spPr>
          <a:xfrm>
            <a:off x="9092973" y="4738767"/>
            <a:ext cx="2311342" cy="274241"/>
          </a:xfrm>
          <a:prstGeom prst="rect">
            <a:avLst/>
          </a:prstGeom>
          <a:noFill/>
          <a:ln/>
        </p:spPr>
        <p:txBody>
          <a:bodyPr wrap="none" lIns="0" tIns="0" rIns="0" bIns="0" rtlCol="0" anchor="t"/>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Responsive UI</a:t>
            </a:r>
            <a:endParaRPr lang="en-US" sz="1800" dirty="0"/>
          </a:p>
        </p:txBody>
      </p:sp>
      <p:sp>
        <p:nvSpPr>
          <p:cNvPr id="35" name="Text 25"/>
          <p:cNvSpPr/>
          <p:nvPr/>
        </p:nvSpPr>
        <p:spPr>
          <a:xfrm>
            <a:off x="609585" y="5646976"/>
            <a:ext cx="11582110" cy="302220"/>
          </a:xfrm>
          <a:prstGeom prst="rect">
            <a:avLst/>
          </a:prstGeom>
          <a:noFill/>
          <a:ln/>
        </p:spPr>
        <p:txBody>
          <a:bodyPr wrap="none" lIns="0" tIns="0" rIns="0" bIns="0" rtlCol="0" anchor="ctr"/>
          <a:lstStyle/>
          <a:p>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AUTOMATION · ACCURACY · DATA SECURITY · SCALABILITY</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1E2328"/>
                </a:solidFill>
                <a:latin typeface="Martian Mono Medium" pitchFamily="34" charset="0"/>
                <a:ea typeface="Martian Mono Medium" pitchFamily="34" charset="-122"/>
                <a:cs typeface="Martian Mono Medium" pitchFamily="34" charset="0"/>
              </a:rPr>
              <a:t>SHARED DATA FLOW</a:t>
            </a:r>
            <a:endParaRPr lang="en-US" sz="1200" dirty="0"/>
          </a:p>
        </p:txBody>
      </p:sp>
      <p:sp>
        <p:nvSpPr>
          <p:cNvPr id="3" name="Text 1"/>
          <p:cNvSpPr/>
          <p:nvPr/>
        </p:nvSpPr>
        <p:spPr>
          <a:xfrm>
            <a:off x="609585" y="914672"/>
            <a:ext cx="10972526" cy="1005681"/>
          </a:xfrm>
          <a:prstGeom prst="rect">
            <a:avLst/>
          </a:prstGeom>
          <a:noFill/>
          <a:ln/>
        </p:spPr>
        <p:txBody>
          <a:bodyPr wrap="square" lIns="0" tIns="0" rIns="0" bIns="0" rtlCol="0" anchor="t">
            <a:normAutofit/>
          </a:bodyPr>
          <a:lstStyle/>
          <a:p>
            <a:pPr algn="l" indent="0" marL="0">
              <a:lnSpc>
                <a:spcPct val="92000"/>
              </a:lnSpc>
              <a:buNone/>
            </a:pPr>
            <a:r>
              <a:rPr lang="en-US" sz="3600" b="1" spc="-54" kern="100" dirty="0">
                <a:solidFill>
                  <a:srgbClr val="1E2328"/>
                </a:solidFill>
                <a:latin typeface="Syne Bold" pitchFamily="34" charset="0"/>
                <a:ea typeface="Syne Bold" pitchFamily="34" charset="-122"/>
                <a:cs typeface="Syne Bold" pitchFamily="34" charset="0"/>
              </a:rPr>
              <a:t>Four roles move one patient journey through shared data</a:t>
            </a:r>
            <a:endParaRPr lang="en-US" sz="3600" dirty="0"/>
          </a:p>
        </p:txBody>
      </p:sp>
      <p:pic>
        <p:nvPicPr>
          <p:cNvPr id="4" name="Image 0" descr="preencoded.png">    </p:cNvPr>
          <p:cNvPicPr>
            <a:picLocks noChangeAspect="1"/>
          </p:cNvPicPr>
          <p:nvPr/>
        </p:nvPicPr>
        <p:blipFill>
          <a:blip r:embed="rId1"/>
          <a:stretch>
            <a:fillRect/>
          </a:stretch>
        </p:blipFill>
        <p:spPr>
          <a:xfrm>
            <a:off x="609585" y="2092722"/>
            <a:ext cx="10413739" cy="39052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1E2328"/>
                </a:solidFill>
                <a:latin typeface="Martian Mono Medium" pitchFamily="34" charset="0"/>
                <a:ea typeface="Martian Mono Medium" pitchFamily="34" charset="-122"/>
                <a:cs typeface="Martian Mono Medium" pitchFamily="34" charset="0"/>
              </a:rPr>
              <a:t>ACCOUNTABILITY</a:t>
            </a:r>
            <a:endParaRPr lang="en-US" sz="1200" dirty="0"/>
          </a:p>
        </p:txBody>
      </p:sp>
      <p:sp>
        <p:nvSpPr>
          <p:cNvPr id="3" name="Text 1"/>
          <p:cNvSpPr/>
          <p:nvPr/>
        </p:nvSpPr>
        <p:spPr>
          <a:xfrm>
            <a:off x="609585" y="914672"/>
            <a:ext cx="10972526" cy="1005681"/>
          </a:xfrm>
          <a:prstGeom prst="rect">
            <a:avLst/>
          </a:prstGeom>
          <a:noFill/>
          <a:ln/>
        </p:spPr>
        <p:txBody>
          <a:bodyPr wrap="square" lIns="0" tIns="0" rIns="0" bIns="0" rtlCol="0" anchor="t">
            <a:normAutofit/>
          </a:bodyPr>
          <a:lstStyle/>
          <a:p>
            <a:pPr algn="l" indent="0" marL="0">
              <a:lnSpc>
                <a:spcPct val="92000"/>
              </a:lnSpc>
              <a:buNone/>
            </a:pPr>
            <a:r>
              <a:rPr lang="en-US" sz="3600" b="1" spc="-54" kern="100" dirty="0">
                <a:solidFill>
                  <a:srgbClr val="1E2328"/>
                </a:solidFill>
                <a:latin typeface="Syne Bold" pitchFamily="34" charset="0"/>
                <a:ea typeface="Syne Bold" pitchFamily="34" charset="-122"/>
                <a:cs typeface="Syne Bold" pitchFamily="34" charset="0"/>
              </a:rPr>
              <a:t>Role-based access turns modules into accountable workflows</a:t>
            </a:r>
            <a:endParaRPr lang="en-US" sz="3600" dirty="0"/>
          </a:p>
        </p:txBody>
      </p:sp>
      <p:sp>
        <p:nvSpPr>
          <p:cNvPr id="4" name="Shape 2"/>
          <p:cNvSpPr/>
          <p:nvPr/>
        </p:nvSpPr>
        <p:spPr>
          <a:xfrm>
            <a:off x="609585" y="2114947"/>
            <a:ext cx="2072529" cy="2654697"/>
          </a:xfrm>
          <a:prstGeom prst="roundRect">
            <a:avLst>
              <a:gd name="adj" fmla="val 4375"/>
            </a:avLst>
          </a:prstGeom>
          <a:solidFill>
            <a:srgbClr val="F4F6F8"/>
          </a:solidFill>
          <a:ln/>
        </p:spPr>
      </p:sp>
      <p:pic>
        <p:nvPicPr>
          <p:cNvPr id="5" name="Image 0" descr="preencoded.png">    </p:cNvPr>
          <p:cNvPicPr>
            <a:picLocks noChangeAspect="1"/>
          </p:cNvPicPr>
          <p:nvPr/>
        </p:nvPicPr>
        <p:blipFill>
          <a:blip r:embed="rId1"/>
          <a:stretch>
            <a:fillRect/>
          </a:stretch>
        </p:blipFill>
        <p:spPr>
          <a:xfrm>
            <a:off x="838179" y="2343547"/>
            <a:ext cx="431789" cy="431800"/>
          </a:xfrm>
          <a:prstGeom prst="rect">
            <a:avLst/>
          </a:prstGeom>
        </p:spPr>
      </p:pic>
      <p:sp>
        <p:nvSpPr>
          <p:cNvPr id="6" name="Text 3"/>
          <p:cNvSpPr/>
          <p:nvPr/>
        </p:nvSpPr>
        <p:spPr>
          <a:xfrm>
            <a:off x="838179" y="2919492"/>
            <a:ext cx="1615340" cy="274241"/>
          </a:xfrm>
          <a:prstGeom prst="rect">
            <a:avLst/>
          </a:prstGeom>
          <a:noFill/>
          <a:ln/>
        </p:spPr>
        <p:txBody>
          <a:bodyPr wrap="none" lIns="0" tIns="0" rIns="0" bIns="0" rtlCol="0" anchor="t"/>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Administrator</a:t>
            </a:r>
            <a:endParaRPr lang="en-US" sz="1800" dirty="0"/>
          </a:p>
        </p:txBody>
      </p:sp>
      <p:sp>
        <p:nvSpPr>
          <p:cNvPr id="7" name="Text 4"/>
          <p:cNvSpPr/>
          <p:nvPr/>
        </p:nvSpPr>
        <p:spPr>
          <a:xfrm>
            <a:off x="838179" y="3337560"/>
            <a:ext cx="1615340" cy="120888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Manages all users and monitors the system.</a:t>
            </a:r>
            <a:endParaRPr lang="en-US" sz="1700" dirty="0"/>
          </a:p>
        </p:txBody>
      </p:sp>
      <p:sp>
        <p:nvSpPr>
          <p:cNvPr id="8" name="Shape 5"/>
          <p:cNvSpPr/>
          <p:nvPr/>
        </p:nvSpPr>
        <p:spPr>
          <a:xfrm>
            <a:off x="2834510" y="2114947"/>
            <a:ext cx="2072628" cy="2654697"/>
          </a:xfrm>
          <a:prstGeom prst="roundRect">
            <a:avLst>
              <a:gd name="adj" fmla="val 4375"/>
            </a:avLst>
          </a:prstGeom>
          <a:solidFill>
            <a:srgbClr val="FFC52E"/>
          </a:solidFill>
          <a:ln/>
        </p:spPr>
      </p:sp>
      <p:pic>
        <p:nvPicPr>
          <p:cNvPr id="9" name="Image 1" descr="preencoded.png">    </p:cNvPr>
          <p:cNvPicPr>
            <a:picLocks noChangeAspect="1"/>
          </p:cNvPicPr>
          <p:nvPr/>
        </p:nvPicPr>
        <p:blipFill>
          <a:blip r:embed="rId2"/>
          <a:stretch>
            <a:fillRect/>
          </a:stretch>
        </p:blipFill>
        <p:spPr>
          <a:xfrm>
            <a:off x="3063104" y="2343547"/>
            <a:ext cx="431789" cy="431800"/>
          </a:xfrm>
          <a:prstGeom prst="rect">
            <a:avLst/>
          </a:prstGeom>
        </p:spPr>
      </p:pic>
      <p:sp>
        <p:nvSpPr>
          <p:cNvPr id="10" name="Text 6"/>
          <p:cNvSpPr/>
          <p:nvPr/>
        </p:nvSpPr>
        <p:spPr>
          <a:xfrm>
            <a:off x="3063104" y="2919492"/>
            <a:ext cx="1615439" cy="274241"/>
          </a:xfrm>
          <a:prstGeom prst="rect">
            <a:avLst/>
          </a:prstGeom>
          <a:noFill/>
          <a:ln/>
        </p:spPr>
        <p:txBody>
          <a:bodyPr wrap="none" lIns="0" tIns="0" rIns="0" bIns="0" rtlCol="0" anchor="t"/>
          <a:lstStyle/>
          <a:p>
            <a:pPr algn="l" indent="0" marL="0">
              <a:lnSpc>
                <a:spcPct val="100000"/>
              </a:lnSpc>
              <a:buNone/>
            </a:pPr>
            <a:r>
              <a:rPr lang="en-US" sz="1800" dirty="0">
                <a:solidFill>
                  <a:srgbClr val="000000"/>
                </a:solidFill>
                <a:latin typeface="Lexend SemiBold" pitchFamily="34" charset="0"/>
                <a:ea typeface="Lexend SemiBold" pitchFamily="34" charset="-122"/>
                <a:cs typeface="Lexend SemiBold" pitchFamily="34" charset="0"/>
              </a:rPr>
              <a:t>Receptionist</a:t>
            </a:r>
            <a:endParaRPr lang="en-US" sz="1800" dirty="0"/>
          </a:p>
        </p:txBody>
      </p:sp>
      <p:sp>
        <p:nvSpPr>
          <p:cNvPr id="11" name="Text 7"/>
          <p:cNvSpPr/>
          <p:nvPr/>
        </p:nvSpPr>
        <p:spPr>
          <a:xfrm>
            <a:off x="3063104" y="3337560"/>
            <a:ext cx="1615439" cy="120888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000000"/>
                </a:solidFill>
                <a:latin typeface="Lexend" pitchFamily="34" charset="0"/>
                <a:ea typeface="Lexend" pitchFamily="34" charset="-122"/>
                <a:cs typeface="Lexend" pitchFamily="34" charset="0"/>
              </a:rPr>
              <a:t>Registers patients and schedules appointments.</a:t>
            </a:r>
            <a:endParaRPr lang="en-US" sz="1700" dirty="0"/>
          </a:p>
        </p:txBody>
      </p:sp>
      <p:sp>
        <p:nvSpPr>
          <p:cNvPr id="12" name="Shape 8"/>
          <p:cNvSpPr/>
          <p:nvPr/>
        </p:nvSpPr>
        <p:spPr>
          <a:xfrm>
            <a:off x="5059534" y="2114947"/>
            <a:ext cx="2072529" cy="2654697"/>
          </a:xfrm>
          <a:prstGeom prst="roundRect">
            <a:avLst>
              <a:gd name="adj" fmla="val 4375"/>
            </a:avLst>
          </a:prstGeom>
          <a:solidFill>
            <a:srgbClr val="F4F6F8"/>
          </a:solidFill>
          <a:ln/>
        </p:spPr>
      </p:sp>
      <p:pic>
        <p:nvPicPr>
          <p:cNvPr id="13" name="Image 2" descr="preencoded.png">    </p:cNvPr>
          <p:cNvPicPr>
            <a:picLocks noChangeAspect="1"/>
          </p:cNvPicPr>
          <p:nvPr/>
        </p:nvPicPr>
        <p:blipFill>
          <a:blip r:embed="rId3"/>
          <a:stretch>
            <a:fillRect/>
          </a:stretch>
        </p:blipFill>
        <p:spPr>
          <a:xfrm>
            <a:off x="5288128" y="2343547"/>
            <a:ext cx="431789" cy="431800"/>
          </a:xfrm>
          <a:prstGeom prst="rect">
            <a:avLst/>
          </a:prstGeom>
        </p:spPr>
      </p:pic>
      <p:sp>
        <p:nvSpPr>
          <p:cNvPr id="14" name="Text 9"/>
          <p:cNvSpPr/>
          <p:nvPr/>
        </p:nvSpPr>
        <p:spPr>
          <a:xfrm>
            <a:off x="5288128" y="2919492"/>
            <a:ext cx="1615340" cy="274241"/>
          </a:xfrm>
          <a:prstGeom prst="rect">
            <a:avLst/>
          </a:prstGeom>
          <a:noFill/>
          <a:ln/>
        </p:spPr>
        <p:txBody>
          <a:bodyPr wrap="none" lIns="0" tIns="0" rIns="0" bIns="0" rtlCol="0" anchor="t"/>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Doctor</a:t>
            </a:r>
            <a:endParaRPr lang="en-US" sz="1800" dirty="0"/>
          </a:p>
        </p:txBody>
      </p:sp>
      <p:sp>
        <p:nvSpPr>
          <p:cNvPr id="15" name="Text 10"/>
          <p:cNvSpPr/>
          <p:nvPr/>
        </p:nvSpPr>
        <p:spPr>
          <a:xfrm>
            <a:off x="5288128" y="3337560"/>
            <a:ext cx="1615340" cy="120888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Views history and updates diagnosis and prescriptions.</a:t>
            </a:r>
            <a:endParaRPr lang="en-US" sz="1700" dirty="0"/>
          </a:p>
        </p:txBody>
      </p:sp>
      <p:sp>
        <p:nvSpPr>
          <p:cNvPr id="16" name="Shape 11"/>
          <p:cNvSpPr/>
          <p:nvPr/>
        </p:nvSpPr>
        <p:spPr>
          <a:xfrm>
            <a:off x="7284458" y="2114947"/>
            <a:ext cx="2072628" cy="2654697"/>
          </a:xfrm>
          <a:prstGeom prst="roundRect">
            <a:avLst>
              <a:gd name="adj" fmla="val 7353"/>
            </a:avLst>
          </a:prstGeom>
          <a:solidFill>
            <a:srgbClr val="F4F6F8"/>
          </a:solidFill>
          <a:ln/>
        </p:spPr>
      </p:sp>
      <p:pic>
        <p:nvPicPr>
          <p:cNvPr id="17" name="Image 3" descr="preencoded.png">    </p:cNvPr>
          <p:cNvPicPr>
            <a:picLocks noChangeAspect="1"/>
          </p:cNvPicPr>
          <p:nvPr/>
        </p:nvPicPr>
        <p:blipFill>
          <a:blip r:embed="rId4"/>
          <a:stretch>
            <a:fillRect/>
          </a:stretch>
        </p:blipFill>
        <p:spPr>
          <a:xfrm>
            <a:off x="7513053" y="2343547"/>
            <a:ext cx="431789" cy="431800"/>
          </a:xfrm>
          <a:prstGeom prst="rect">
            <a:avLst/>
          </a:prstGeom>
        </p:spPr>
      </p:pic>
      <p:sp>
        <p:nvSpPr>
          <p:cNvPr id="18" name="Text 12"/>
          <p:cNvSpPr/>
          <p:nvPr/>
        </p:nvSpPr>
        <p:spPr>
          <a:xfrm>
            <a:off x="7513053" y="2919492"/>
            <a:ext cx="1615439" cy="274241"/>
          </a:xfrm>
          <a:prstGeom prst="rect">
            <a:avLst/>
          </a:prstGeom>
          <a:noFill/>
          <a:ln/>
        </p:spPr>
        <p:txBody>
          <a:bodyPr wrap="none" lIns="0" tIns="0" rIns="0" bIns="0" rtlCol="0" anchor="t"/>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Patient</a:t>
            </a:r>
            <a:endParaRPr lang="en-US" sz="1800" dirty="0"/>
          </a:p>
        </p:txBody>
      </p:sp>
      <p:sp>
        <p:nvSpPr>
          <p:cNvPr id="19" name="Text 13"/>
          <p:cNvSpPr/>
          <p:nvPr/>
        </p:nvSpPr>
        <p:spPr>
          <a:xfrm>
            <a:off x="7513053" y="3337560"/>
            <a:ext cx="1615439"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Views appointments and records.</a:t>
            </a:r>
            <a:endParaRPr lang="en-US" sz="1700" dirty="0"/>
          </a:p>
        </p:txBody>
      </p:sp>
      <p:sp>
        <p:nvSpPr>
          <p:cNvPr id="20" name="Shape 14"/>
          <p:cNvSpPr/>
          <p:nvPr/>
        </p:nvSpPr>
        <p:spPr>
          <a:xfrm>
            <a:off x="9509482" y="2114947"/>
            <a:ext cx="2072529" cy="2654697"/>
          </a:xfrm>
          <a:prstGeom prst="roundRect">
            <a:avLst>
              <a:gd name="adj" fmla="val 4375"/>
            </a:avLst>
          </a:prstGeom>
          <a:solidFill>
            <a:srgbClr val="FFC52E"/>
          </a:solidFill>
          <a:ln/>
        </p:spPr>
      </p:sp>
      <p:pic>
        <p:nvPicPr>
          <p:cNvPr id="21" name="Image 4" descr="preencoded.png">    </p:cNvPr>
          <p:cNvPicPr>
            <a:picLocks noChangeAspect="1"/>
          </p:cNvPicPr>
          <p:nvPr/>
        </p:nvPicPr>
        <p:blipFill>
          <a:blip r:embed="rId5"/>
          <a:stretch>
            <a:fillRect/>
          </a:stretch>
        </p:blipFill>
        <p:spPr>
          <a:xfrm>
            <a:off x="9738077" y="2343547"/>
            <a:ext cx="431789" cy="431800"/>
          </a:xfrm>
          <a:prstGeom prst="rect">
            <a:avLst/>
          </a:prstGeom>
        </p:spPr>
      </p:pic>
      <p:sp>
        <p:nvSpPr>
          <p:cNvPr id="22" name="Text 15"/>
          <p:cNvSpPr/>
          <p:nvPr/>
        </p:nvSpPr>
        <p:spPr>
          <a:xfrm>
            <a:off x="9738077" y="2919492"/>
            <a:ext cx="1615340" cy="274241"/>
          </a:xfrm>
          <a:prstGeom prst="rect">
            <a:avLst/>
          </a:prstGeom>
          <a:noFill/>
          <a:ln/>
        </p:spPr>
        <p:txBody>
          <a:bodyPr wrap="none" lIns="0" tIns="0" rIns="0" bIns="0" rtlCol="0" anchor="t"/>
          <a:lstStyle/>
          <a:p>
            <a:pPr algn="l" indent="0" marL="0">
              <a:lnSpc>
                <a:spcPct val="100000"/>
              </a:lnSpc>
              <a:buNone/>
            </a:pPr>
            <a:r>
              <a:rPr lang="en-US" sz="1800" dirty="0">
                <a:solidFill>
                  <a:srgbClr val="000000"/>
                </a:solidFill>
                <a:latin typeface="Lexend SemiBold" pitchFamily="34" charset="0"/>
                <a:ea typeface="Lexend SemiBold" pitchFamily="34" charset="-122"/>
                <a:cs typeface="Lexend SemiBold" pitchFamily="34" charset="0"/>
              </a:rPr>
              <a:t>Billing Staff</a:t>
            </a:r>
            <a:endParaRPr lang="en-US" sz="1800" dirty="0"/>
          </a:p>
        </p:txBody>
      </p:sp>
      <p:sp>
        <p:nvSpPr>
          <p:cNvPr id="23" name="Text 16"/>
          <p:cNvSpPr/>
          <p:nvPr/>
        </p:nvSpPr>
        <p:spPr>
          <a:xfrm>
            <a:off x="9738077" y="3337560"/>
            <a:ext cx="1615340"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000000"/>
                </a:solidFill>
                <a:latin typeface="Lexend" pitchFamily="34" charset="0"/>
                <a:ea typeface="Lexend" pitchFamily="34" charset="-122"/>
                <a:cs typeface="Lexend" pitchFamily="34" charset="0"/>
              </a:rPr>
              <a:t>Generates and stores bills.</a:t>
            </a:r>
            <a:endParaRPr lang="en-US" sz="1700" dirty="0"/>
          </a:p>
        </p:txBody>
      </p:sp>
      <p:sp>
        <p:nvSpPr>
          <p:cNvPr id="24" name="Text 17"/>
          <p:cNvSpPr/>
          <p:nvPr/>
        </p:nvSpPr>
        <p:spPr>
          <a:xfrm>
            <a:off x="609585" y="4896644"/>
            <a:ext cx="835897" cy="215900"/>
          </a:xfrm>
          <a:prstGeom prst="rect">
            <a:avLst/>
          </a:prstGeom>
          <a:noFill/>
          <a:ln/>
        </p:spPr>
        <p:txBody>
          <a:bodyPr wrap="none" lIns="0" tIns="0" rIns="0" bIns="0" rtlCol="0" anchor="t"/>
          <a:lstStyle/>
          <a:p>
            <a:pPr algn="l" indent="0" marL="0">
              <a:lnSpc>
                <a:spcPct val="83000"/>
              </a:lnSpc>
              <a:buNone/>
            </a:pPr>
            <a:r>
              <a:rPr lang="en-US" sz="1700" dirty="0">
                <a:solidFill>
                  <a:srgbClr val="1E2328"/>
                </a:solidFill>
                <a:latin typeface="Syne SemiBold" pitchFamily="34" charset="0"/>
                <a:ea typeface="Syne SemiBold" pitchFamily="34" charset="-122"/>
                <a:cs typeface="Syne SemiBold" pitchFamily="34" charset="0"/>
              </a:rPr>
              <a:t>01</a:t>
            </a:r>
            <a:endParaRPr lang="en-US" sz="1700" dirty="0"/>
          </a:p>
        </p:txBody>
      </p:sp>
      <p:sp>
        <p:nvSpPr>
          <p:cNvPr id="25" name="Shape 18"/>
          <p:cNvSpPr/>
          <p:nvPr/>
        </p:nvSpPr>
        <p:spPr>
          <a:xfrm>
            <a:off x="609585" y="5198864"/>
            <a:ext cx="2072529" cy="19050"/>
          </a:xfrm>
          <a:prstGeom prst="rect">
            <a:avLst/>
          </a:prstGeom>
          <a:solidFill>
            <a:srgbClr val="F25A3C"/>
          </a:solidFill>
          <a:ln/>
        </p:spPr>
      </p:sp>
      <p:sp>
        <p:nvSpPr>
          <p:cNvPr id="26" name="Text 19"/>
          <p:cNvSpPr/>
          <p:nvPr/>
        </p:nvSpPr>
        <p:spPr>
          <a:xfrm>
            <a:off x="609585" y="5364540"/>
            <a:ext cx="2072529" cy="548481"/>
          </a:xfrm>
          <a:prstGeom prst="rect">
            <a:avLst/>
          </a:prstGeom>
          <a:noFill/>
          <a:ln/>
        </p:spPr>
        <p:txBody>
          <a:bodyPr wrap="square" lIns="0" tIns="0" rIns="0" bIns="0" rtlCol="0" anchor="t">
            <a:normAutofit/>
          </a:bodyPr>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Patient Management</a:t>
            </a:r>
            <a:endParaRPr lang="en-US" sz="1800" dirty="0"/>
          </a:p>
        </p:txBody>
      </p:sp>
      <p:sp>
        <p:nvSpPr>
          <p:cNvPr id="27" name="Text 20"/>
          <p:cNvSpPr/>
          <p:nvPr/>
        </p:nvSpPr>
        <p:spPr>
          <a:xfrm>
            <a:off x="2834510" y="4896644"/>
            <a:ext cx="878163" cy="215900"/>
          </a:xfrm>
          <a:prstGeom prst="rect">
            <a:avLst/>
          </a:prstGeom>
          <a:noFill/>
          <a:ln/>
        </p:spPr>
        <p:txBody>
          <a:bodyPr wrap="none" lIns="0" tIns="0" rIns="0" bIns="0" rtlCol="0" anchor="t"/>
          <a:lstStyle/>
          <a:p>
            <a:pPr algn="l" indent="0" marL="0">
              <a:lnSpc>
                <a:spcPct val="83000"/>
              </a:lnSpc>
              <a:buNone/>
            </a:pPr>
            <a:r>
              <a:rPr lang="en-US" sz="1700" dirty="0">
                <a:solidFill>
                  <a:srgbClr val="1E2328"/>
                </a:solidFill>
                <a:latin typeface="Syne SemiBold" pitchFamily="34" charset="0"/>
                <a:ea typeface="Syne SemiBold" pitchFamily="34" charset="-122"/>
                <a:cs typeface="Syne SemiBold" pitchFamily="34" charset="0"/>
              </a:rPr>
              <a:t>02</a:t>
            </a:r>
            <a:endParaRPr lang="en-US" sz="1700" dirty="0"/>
          </a:p>
        </p:txBody>
      </p:sp>
      <p:sp>
        <p:nvSpPr>
          <p:cNvPr id="28" name="Shape 21"/>
          <p:cNvSpPr/>
          <p:nvPr/>
        </p:nvSpPr>
        <p:spPr>
          <a:xfrm>
            <a:off x="2834510" y="5198864"/>
            <a:ext cx="2072529" cy="19050"/>
          </a:xfrm>
          <a:prstGeom prst="rect">
            <a:avLst/>
          </a:prstGeom>
          <a:solidFill>
            <a:srgbClr val="F25A3C"/>
          </a:solidFill>
          <a:ln/>
        </p:spPr>
      </p:sp>
      <p:sp>
        <p:nvSpPr>
          <p:cNvPr id="29" name="Text 22"/>
          <p:cNvSpPr/>
          <p:nvPr/>
        </p:nvSpPr>
        <p:spPr>
          <a:xfrm>
            <a:off x="2834510" y="5364540"/>
            <a:ext cx="2072628" cy="548481"/>
          </a:xfrm>
          <a:prstGeom prst="rect">
            <a:avLst/>
          </a:prstGeom>
          <a:noFill/>
          <a:ln/>
        </p:spPr>
        <p:txBody>
          <a:bodyPr wrap="square" lIns="0" tIns="0" rIns="0" bIns="0" rtlCol="0" anchor="t">
            <a:normAutofit/>
          </a:bodyPr>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Appointment Scheduling</a:t>
            </a:r>
            <a:endParaRPr lang="en-US" sz="1800" dirty="0"/>
          </a:p>
        </p:txBody>
      </p:sp>
      <p:sp>
        <p:nvSpPr>
          <p:cNvPr id="30" name="Text 23"/>
          <p:cNvSpPr/>
          <p:nvPr/>
        </p:nvSpPr>
        <p:spPr>
          <a:xfrm>
            <a:off x="5059534" y="4896644"/>
            <a:ext cx="880544" cy="215900"/>
          </a:xfrm>
          <a:prstGeom prst="rect">
            <a:avLst/>
          </a:prstGeom>
          <a:noFill/>
          <a:ln/>
        </p:spPr>
        <p:txBody>
          <a:bodyPr wrap="none" lIns="0" tIns="0" rIns="0" bIns="0" rtlCol="0" anchor="t"/>
          <a:lstStyle/>
          <a:p>
            <a:pPr algn="l" indent="0" marL="0">
              <a:lnSpc>
                <a:spcPct val="83000"/>
              </a:lnSpc>
              <a:buNone/>
            </a:pPr>
            <a:r>
              <a:rPr lang="en-US" sz="1700" dirty="0">
                <a:solidFill>
                  <a:srgbClr val="1E2328"/>
                </a:solidFill>
                <a:latin typeface="Syne SemiBold" pitchFamily="34" charset="0"/>
                <a:ea typeface="Syne SemiBold" pitchFamily="34" charset="-122"/>
                <a:cs typeface="Syne SemiBold" pitchFamily="34" charset="0"/>
              </a:rPr>
              <a:t>03</a:t>
            </a:r>
            <a:endParaRPr lang="en-US" sz="1700" dirty="0"/>
          </a:p>
        </p:txBody>
      </p:sp>
      <p:sp>
        <p:nvSpPr>
          <p:cNvPr id="31" name="Shape 24"/>
          <p:cNvSpPr/>
          <p:nvPr/>
        </p:nvSpPr>
        <p:spPr>
          <a:xfrm>
            <a:off x="5059534" y="5198864"/>
            <a:ext cx="2072529" cy="19050"/>
          </a:xfrm>
          <a:prstGeom prst="rect">
            <a:avLst/>
          </a:prstGeom>
          <a:solidFill>
            <a:srgbClr val="F25A3C"/>
          </a:solidFill>
          <a:ln/>
        </p:spPr>
      </p:sp>
      <p:sp>
        <p:nvSpPr>
          <p:cNvPr id="32" name="Text 25"/>
          <p:cNvSpPr/>
          <p:nvPr/>
        </p:nvSpPr>
        <p:spPr>
          <a:xfrm>
            <a:off x="5059534" y="5364540"/>
            <a:ext cx="2072529" cy="548481"/>
          </a:xfrm>
          <a:prstGeom prst="rect">
            <a:avLst/>
          </a:prstGeom>
          <a:noFill/>
          <a:ln/>
        </p:spPr>
        <p:txBody>
          <a:bodyPr wrap="square" lIns="0" tIns="0" rIns="0" bIns="0" rtlCol="0" anchor="t">
            <a:normAutofit/>
          </a:bodyPr>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Billing Management</a:t>
            </a:r>
            <a:endParaRPr lang="en-US" sz="1800" dirty="0"/>
          </a:p>
        </p:txBody>
      </p:sp>
      <p:sp>
        <p:nvSpPr>
          <p:cNvPr id="33" name="Text 26"/>
          <p:cNvSpPr/>
          <p:nvPr/>
        </p:nvSpPr>
        <p:spPr>
          <a:xfrm>
            <a:off x="7284458" y="4896644"/>
            <a:ext cx="896816" cy="215900"/>
          </a:xfrm>
          <a:prstGeom prst="rect">
            <a:avLst/>
          </a:prstGeom>
          <a:noFill/>
          <a:ln/>
        </p:spPr>
        <p:txBody>
          <a:bodyPr wrap="none" lIns="0" tIns="0" rIns="0" bIns="0" rtlCol="0" anchor="t"/>
          <a:lstStyle/>
          <a:p>
            <a:pPr algn="l" indent="0" marL="0">
              <a:lnSpc>
                <a:spcPct val="83000"/>
              </a:lnSpc>
              <a:buNone/>
            </a:pPr>
            <a:r>
              <a:rPr lang="en-US" sz="1700" dirty="0">
                <a:solidFill>
                  <a:srgbClr val="1E2328"/>
                </a:solidFill>
                <a:latin typeface="Syne SemiBold" pitchFamily="34" charset="0"/>
                <a:ea typeface="Syne SemiBold" pitchFamily="34" charset="-122"/>
                <a:cs typeface="Syne SemiBold" pitchFamily="34" charset="0"/>
              </a:rPr>
              <a:t>04</a:t>
            </a:r>
            <a:endParaRPr lang="en-US" sz="1700" dirty="0"/>
          </a:p>
        </p:txBody>
      </p:sp>
      <p:sp>
        <p:nvSpPr>
          <p:cNvPr id="34" name="Shape 27"/>
          <p:cNvSpPr/>
          <p:nvPr/>
        </p:nvSpPr>
        <p:spPr>
          <a:xfrm>
            <a:off x="7284458" y="5198864"/>
            <a:ext cx="2072529" cy="19050"/>
          </a:xfrm>
          <a:prstGeom prst="rect">
            <a:avLst/>
          </a:prstGeom>
          <a:solidFill>
            <a:srgbClr val="F25A3C"/>
          </a:solidFill>
          <a:ln/>
        </p:spPr>
      </p:sp>
      <p:sp>
        <p:nvSpPr>
          <p:cNvPr id="35" name="Text 28"/>
          <p:cNvSpPr/>
          <p:nvPr/>
        </p:nvSpPr>
        <p:spPr>
          <a:xfrm>
            <a:off x="7284458" y="5364540"/>
            <a:ext cx="2072628" cy="548481"/>
          </a:xfrm>
          <a:prstGeom prst="rect">
            <a:avLst/>
          </a:prstGeom>
          <a:noFill/>
          <a:ln/>
        </p:spPr>
        <p:txBody>
          <a:bodyPr wrap="square" lIns="0" tIns="0" rIns="0" bIns="0" rtlCol="0" anchor="t">
            <a:normAutofit/>
          </a:bodyPr>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Database Management</a:t>
            </a:r>
            <a:endParaRPr lang="en-US" sz="1800" dirty="0"/>
          </a:p>
        </p:txBody>
      </p:sp>
      <p:sp>
        <p:nvSpPr>
          <p:cNvPr id="36" name="Text 29"/>
          <p:cNvSpPr/>
          <p:nvPr/>
        </p:nvSpPr>
        <p:spPr>
          <a:xfrm>
            <a:off x="9509482" y="4896644"/>
            <a:ext cx="892847" cy="215900"/>
          </a:xfrm>
          <a:prstGeom prst="rect">
            <a:avLst/>
          </a:prstGeom>
          <a:noFill/>
          <a:ln/>
        </p:spPr>
        <p:txBody>
          <a:bodyPr wrap="none" lIns="0" tIns="0" rIns="0" bIns="0" rtlCol="0" anchor="t"/>
          <a:lstStyle/>
          <a:p>
            <a:pPr algn="l" indent="0" marL="0">
              <a:lnSpc>
                <a:spcPct val="83000"/>
              </a:lnSpc>
              <a:buNone/>
            </a:pPr>
            <a:r>
              <a:rPr lang="en-US" sz="1700" dirty="0">
                <a:solidFill>
                  <a:srgbClr val="1E2328"/>
                </a:solidFill>
                <a:latin typeface="Syne SemiBold" pitchFamily="34" charset="0"/>
                <a:ea typeface="Syne SemiBold" pitchFamily="34" charset="-122"/>
                <a:cs typeface="Syne SemiBold" pitchFamily="34" charset="0"/>
              </a:rPr>
              <a:t>05</a:t>
            </a:r>
            <a:endParaRPr lang="en-US" sz="1700" dirty="0"/>
          </a:p>
        </p:txBody>
      </p:sp>
      <p:sp>
        <p:nvSpPr>
          <p:cNvPr id="37" name="Shape 30"/>
          <p:cNvSpPr/>
          <p:nvPr/>
        </p:nvSpPr>
        <p:spPr>
          <a:xfrm>
            <a:off x="9509482" y="5198864"/>
            <a:ext cx="2072529" cy="19050"/>
          </a:xfrm>
          <a:prstGeom prst="rect">
            <a:avLst/>
          </a:prstGeom>
          <a:solidFill>
            <a:srgbClr val="F25A3C"/>
          </a:solidFill>
          <a:ln/>
        </p:spPr>
      </p:sp>
      <p:sp>
        <p:nvSpPr>
          <p:cNvPr id="38" name="Text 31"/>
          <p:cNvSpPr/>
          <p:nvPr/>
        </p:nvSpPr>
        <p:spPr>
          <a:xfrm>
            <a:off x="9509482" y="5364540"/>
            <a:ext cx="2072529" cy="548481"/>
          </a:xfrm>
          <a:prstGeom prst="rect">
            <a:avLst/>
          </a:prstGeom>
          <a:noFill/>
          <a:ln/>
        </p:spPr>
        <p:txBody>
          <a:bodyPr wrap="square" lIns="0" tIns="0" rIns="0" bIns="0" rtlCol="0" anchor="t">
            <a:normAutofit/>
          </a:bodyPr>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System Integration</a:t>
            </a:r>
            <a:endParaRPr lang="en-US" sz="1800" dirty="0"/>
          </a:p>
        </p:txBody>
      </p:sp>
      <p:sp>
        <p:nvSpPr>
          <p:cNvPr id="39" name="Text 32"/>
          <p:cNvSpPr/>
          <p:nvPr/>
        </p:nvSpPr>
        <p:spPr>
          <a:xfrm>
            <a:off x="609585" y="6097885"/>
            <a:ext cx="11582110" cy="214313"/>
          </a:xfrm>
          <a:prstGeom prst="rect">
            <a:avLst/>
          </a:prstGeom>
          <a:noFill/>
          <a:ln/>
        </p:spPr>
        <p:txBody>
          <a:bodyPr wrap="none" lIns="0" tIns="0" rIns="0" bIns="0" rtlCol="0" anchor="t"/>
          <a:lstStyle/>
          <a:p>
            <a:pPr algn="l" indent="0" marL="0">
              <a:lnSpc>
                <a:spcPct val="112000"/>
              </a:lnSpc>
              <a:buNone/>
            </a:pPr>
            <a:r>
              <a:rPr lang="en-US" sz="1250" dirty="0">
                <a:solidFill>
                  <a:srgbClr val="555D66"/>
                </a:solidFill>
                <a:latin typeface="Lexend" pitchFamily="34" charset="0"/>
                <a:ea typeface="Lexend" pitchFamily="34" charset="-122"/>
                <a:cs typeface="Lexend" pitchFamily="34" charset="0"/>
              </a:rPr>
              <a:t>Conflict prevention, auto-calculated charges and separate MongoDB collections support control and traceability.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1E2328"/>
                </a:solidFill>
                <a:latin typeface="Martian Mono Medium" pitchFamily="34" charset="0"/>
                <a:ea typeface="Martian Mono Medium" pitchFamily="34" charset="-122"/>
                <a:cs typeface="Martian Mono Medium" pitchFamily="34" charset="0"/>
              </a:rPr>
              <a:t>IMPLEMENTATION LOGIC</a:t>
            </a:r>
            <a:endParaRPr lang="en-US" sz="1200" dirty="0"/>
          </a:p>
        </p:txBody>
      </p:sp>
      <p:sp>
        <p:nvSpPr>
          <p:cNvPr id="3" name="Text 1"/>
          <p:cNvSpPr/>
          <p:nvPr/>
        </p:nvSpPr>
        <p:spPr>
          <a:xfrm>
            <a:off x="609585" y="914672"/>
            <a:ext cx="10972526" cy="1005681"/>
          </a:xfrm>
          <a:prstGeom prst="rect">
            <a:avLst/>
          </a:prstGeom>
          <a:noFill/>
          <a:ln/>
        </p:spPr>
        <p:txBody>
          <a:bodyPr wrap="square" lIns="0" tIns="0" rIns="0" bIns="0" rtlCol="0" anchor="t">
            <a:normAutofit/>
          </a:bodyPr>
          <a:lstStyle/>
          <a:p>
            <a:pPr algn="l" indent="0" marL="0">
              <a:lnSpc>
                <a:spcPct val="92000"/>
              </a:lnSpc>
              <a:buNone/>
            </a:pPr>
            <a:r>
              <a:rPr lang="en-US" sz="3600" b="1" spc="-54" kern="100" dirty="0">
                <a:solidFill>
                  <a:srgbClr val="1E2328"/>
                </a:solidFill>
                <a:latin typeface="Syne Bold" pitchFamily="34" charset="0"/>
                <a:ea typeface="Syne Bold" pitchFamily="34" charset="-122"/>
                <a:cs typeface="Syne Bold" pitchFamily="34" charset="0"/>
              </a:rPr>
              <a:t>Four small algorithms protect the critical paths</a:t>
            </a:r>
            <a:endParaRPr lang="en-US" sz="3600" dirty="0"/>
          </a:p>
        </p:txBody>
      </p:sp>
      <p:sp>
        <p:nvSpPr>
          <p:cNvPr id="4" name="Shape 2"/>
          <p:cNvSpPr/>
          <p:nvPr/>
        </p:nvSpPr>
        <p:spPr>
          <a:xfrm>
            <a:off x="609585" y="2114947"/>
            <a:ext cx="2514537" cy="3511153"/>
          </a:xfrm>
          <a:prstGeom prst="roundRect">
            <a:avLst>
              <a:gd name="adj" fmla="val 6061"/>
            </a:avLst>
          </a:prstGeom>
          <a:solidFill>
            <a:srgbClr val="F4F6F8"/>
          </a:solidFill>
          <a:ln/>
        </p:spPr>
      </p:sp>
      <p:sp>
        <p:nvSpPr>
          <p:cNvPr id="5" name="Text 3"/>
          <p:cNvSpPr/>
          <p:nvPr/>
        </p:nvSpPr>
        <p:spPr>
          <a:xfrm>
            <a:off x="838179" y="2343547"/>
            <a:ext cx="867646" cy="215900"/>
          </a:xfrm>
          <a:prstGeom prst="rect">
            <a:avLst/>
          </a:prstGeom>
          <a:noFill/>
          <a:ln/>
        </p:spPr>
        <p:txBody>
          <a:bodyPr wrap="none" lIns="0" tIns="0" rIns="0" bIns="0" rtlCol="0" anchor="t"/>
          <a:lstStyle/>
          <a:p>
            <a:pPr algn="l" indent="0" marL="0">
              <a:lnSpc>
                <a:spcPct val="83000"/>
              </a:lnSpc>
              <a:buNone/>
            </a:pPr>
            <a:r>
              <a:rPr lang="en-US" sz="1700" dirty="0">
                <a:solidFill>
                  <a:srgbClr val="1E2328"/>
                </a:solidFill>
                <a:latin typeface="Lexend SemiBold" pitchFamily="34" charset="0"/>
                <a:ea typeface="Lexend SemiBold" pitchFamily="34" charset="-122"/>
                <a:cs typeface="Lexend SemiBold" pitchFamily="34" charset="0"/>
              </a:rPr>
              <a:t>01</a:t>
            </a:r>
            <a:endParaRPr lang="en-US" sz="1700" dirty="0"/>
          </a:p>
        </p:txBody>
      </p:sp>
      <p:sp>
        <p:nvSpPr>
          <p:cNvPr id="6" name="Shape 4"/>
          <p:cNvSpPr/>
          <p:nvPr/>
        </p:nvSpPr>
        <p:spPr>
          <a:xfrm>
            <a:off x="838179" y="2645767"/>
            <a:ext cx="2057349" cy="19050"/>
          </a:xfrm>
          <a:prstGeom prst="rect">
            <a:avLst/>
          </a:prstGeom>
          <a:solidFill>
            <a:srgbClr val="F25A3C"/>
          </a:solidFill>
          <a:ln/>
        </p:spPr>
      </p:sp>
      <p:sp>
        <p:nvSpPr>
          <p:cNvPr id="7" name="Text 5"/>
          <p:cNvSpPr/>
          <p:nvPr/>
        </p:nvSpPr>
        <p:spPr>
          <a:xfrm>
            <a:off x="838179" y="2811443"/>
            <a:ext cx="2057349" cy="548481"/>
          </a:xfrm>
          <a:prstGeom prst="rect">
            <a:avLst/>
          </a:prstGeom>
          <a:noFill/>
          <a:ln/>
        </p:spPr>
        <p:txBody>
          <a:bodyPr wrap="square" lIns="0" tIns="0" rIns="0" bIns="0" rtlCol="0" anchor="t">
            <a:normAutofit/>
          </a:bodyPr>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User authentication</a:t>
            </a:r>
            <a:endParaRPr lang="en-US" sz="1800" dirty="0"/>
          </a:p>
        </p:txBody>
      </p:sp>
      <p:sp>
        <p:nvSpPr>
          <p:cNvPr id="8" name="Text 6"/>
          <p:cNvSpPr/>
          <p:nvPr/>
        </p:nvSpPr>
        <p:spPr>
          <a:xfrm>
            <a:off x="838179" y="3503751"/>
            <a:ext cx="2057349" cy="181332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Credentials → validate → fetch user → compare → dashboard or “Invalid Credentials”.</a:t>
            </a:r>
            <a:endParaRPr lang="en-US" sz="1700" dirty="0"/>
          </a:p>
        </p:txBody>
      </p:sp>
      <p:sp>
        <p:nvSpPr>
          <p:cNvPr id="9" name="Shape 7"/>
          <p:cNvSpPr/>
          <p:nvPr/>
        </p:nvSpPr>
        <p:spPr>
          <a:xfrm>
            <a:off x="3428914" y="2114947"/>
            <a:ext cx="2514537" cy="3511153"/>
          </a:xfrm>
          <a:prstGeom prst="roundRect">
            <a:avLst>
              <a:gd name="adj" fmla="val 6061"/>
            </a:avLst>
          </a:prstGeom>
          <a:solidFill>
            <a:srgbClr val="F4F6F8"/>
          </a:solidFill>
          <a:ln/>
        </p:spPr>
      </p:sp>
      <p:sp>
        <p:nvSpPr>
          <p:cNvPr id="10" name="Text 8"/>
          <p:cNvSpPr/>
          <p:nvPr/>
        </p:nvSpPr>
        <p:spPr>
          <a:xfrm>
            <a:off x="3657509" y="2343547"/>
            <a:ext cx="868936" cy="215900"/>
          </a:xfrm>
          <a:prstGeom prst="rect">
            <a:avLst/>
          </a:prstGeom>
          <a:noFill/>
          <a:ln/>
        </p:spPr>
        <p:txBody>
          <a:bodyPr wrap="none" lIns="0" tIns="0" rIns="0" bIns="0" rtlCol="0" anchor="t"/>
          <a:lstStyle/>
          <a:p>
            <a:pPr algn="l" indent="0" marL="0">
              <a:lnSpc>
                <a:spcPct val="83000"/>
              </a:lnSpc>
              <a:buNone/>
            </a:pPr>
            <a:r>
              <a:rPr lang="en-US" sz="1700" dirty="0">
                <a:solidFill>
                  <a:srgbClr val="1E2328"/>
                </a:solidFill>
                <a:latin typeface="Lexend SemiBold" pitchFamily="34" charset="0"/>
                <a:ea typeface="Lexend SemiBold" pitchFamily="34" charset="-122"/>
                <a:cs typeface="Lexend SemiBold" pitchFamily="34" charset="0"/>
              </a:rPr>
              <a:t>02</a:t>
            </a:r>
            <a:endParaRPr lang="en-US" sz="1700" dirty="0"/>
          </a:p>
        </p:txBody>
      </p:sp>
      <p:sp>
        <p:nvSpPr>
          <p:cNvPr id="11" name="Shape 9"/>
          <p:cNvSpPr/>
          <p:nvPr/>
        </p:nvSpPr>
        <p:spPr>
          <a:xfrm>
            <a:off x="3657509" y="2645767"/>
            <a:ext cx="2057349" cy="19050"/>
          </a:xfrm>
          <a:prstGeom prst="rect">
            <a:avLst/>
          </a:prstGeom>
          <a:solidFill>
            <a:srgbClr val="F25A3C"/>
          </a:solidFill>
          <a:ln/>
        </p:spPr>
      </p:sp>
      <p:sp>
        <p:nvSpPr>
          <p:cNvPr id="12" name="Text 10"/>
          <p:cNvSpPr/>
          <p:nvPr/>
        </p:nvSpPr>
        <p:spPr>
          <a:xfrm>
            <a:off x="3657509" y="2811443"/>
            <a:ext cx="2057349" cy="548481"/>
          </a:xfrm>
          <a:prstGeom prst="rect">
            <a:avLst/>
          </a:prstGeom>
          <a:noFill/>
          <a:ln/>
        </p:spPr>
        <p:txBody>
          <a:bodyPr wrap="square" lIns="0" tIns="0" rIns="0" bIns="0" rtlCol="0" anchor="t">
            <a:normAutofit/>
          </a:bodyPr>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Appointment booking</a:t>
            </a:r>
            <a:endParaRPr lang="en-US" sz="1800" dirty="0"/>
          </a:p>
        </p:txBody>
      </p:sp>
      <p:sp>
        <p:nvSpPr>
          <p:cNvPr id="13" name="Text 11"/>
          <p:cNvSpPr/>
          <p:nvPr/>
        </p:nvSpPr>
        <p:spPr>
          <a:xfrm>
            <a:off x="3657509" y="3503751"/>
            <a:ext cx="2057349" cy="181332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Choose doctor and slot → check availability → confirm and store or “Slot Not Available”.</a:t>
            </a:r>
            <a:endParaRPr lang="en-US" sz="1700" dirty="0"/>
          </a:p>
        </p:txBody>
      </p:sp>
      <p:sp>
        <p:nvSpPr>
          <p:cNvPr id="14" name="Shape 12"/>
          <p:cNvSpPr/>
          <p:nvPr/>
        </p:nvSpPr>
        <p:spPr>
          <a:xfrm>
            <a:off x="6248244" y="2114947"/>
            <a:ext cx="2514537" cy="3511153"/>
          </a:xfrm>
          <a:prstGeom prst="roundRect">
            <a:avLst>
              <a:gd name="adj" fmla="val 6061"/>
            </a:avLst>
          </a:prstGeom>
          <a:solidFill>
            <a:srgbClr val="F4F6F8"/>
          </a:solidFill>
          <a:ln/>
        </p:spPr>
      </p:sp>
      <p:sp>
        <p:nvSpPr>
          <p:cNvPr id="15" name="Text 13"/>
          <p:cNvSpPr/>
          <p:nvPr/>
        </p:nvSpPr>
        <p:spPr>
          <a:xfrm>
            <a:off x="6476838" y="2343547"/>
            <a:ext cx="873897" cy="215900"/>
          </a:xfrm>
          <a:prstGeom prst="rect">
            <a:avLst/>
          </a:prstGeom>
          <a:noFill/>
          <a:ln/>
        </p:spPr>
        <p:txBody>
          <a:bodyPr wrap="none" lIns="0" tIns="0" rIns="0" bIns="0" rtlCol="0" anchor="t"/>
          <a:lstStyle/>
          <a:p>
            <a:pPr algn="l" indent="0" marL="0">
              <a:lnSpc>
                <a:spcPct val="83000"/>
              </a:lnSpc>
              <a:buNone/>
            </a:pPr>
            <a:r>
              <a:rPr lang="en-US" sz="1700" dirty="0">
                <a:solidFill>
                  <a:srgbClr val="1E2328"/>
                </a:solidFill>
                <a:latin typeface="Lexend SemiBold" pitchFamily="34" charset="0"/>
                <a:ea typeface="Lexend SemiBold" pitchFamily="34" charset="-122"/>
                <a:cs typeface="Lexend SemiBold" pitchFamily="34" charset="0"/>
              </a:rPr>
              <a:t>03</a:t>
            </a:r>
            <a:endParaRPr lang="en-US" sz="1700" dirty="0"/>
          </a:p>
        </p:txBody>
      </p:sp>
      <p:sp>
        <p:nvSpPr>
          <p:cNvPr id="16" name="Shape 14"/>
          <p:cNvSpPr/>
          <p:nvPr/>
        </p:nvSpPr>
        <p:spPr>
          <a:xfrm>
            <a:off x="6476838" y="2645767"/>
            <a:ext cx="2057349" cy="19050"/>
          </a:xfrm>
          <a:prstGeom prst="rect">
            <a:avLst/>
          </a:prstGeom>
          <a:solidFill>
            <a:srgbClr val="F25A3C"/>
          </a:solidFill>
          <a:ln/>
        </p:spPr>
      </p:sp>
      <p:sp>
        <p:nvSpPr>
          <p:cNvPr id="17" name="Text 15"/>
          <p:cNvSpPr/>
          <p:nvPr/>
        </p:nvSpPr>
        <p:spPr>
          <a:xfrm>
            <a:off x="6476838" y="2811443"/>
            <a:ext cx="2057349" cy="274241"/>
          </a:xfrm>
          <a:prstGeom prst="rect">
            <a:avLst/>
          </a:prstGeom>
          <a:noFill/>
          <a:ln/>
        </p:spPr>
        <p:txBody>
          <a:bodyPr wrap="none" lIns="0" tIns="0" rIns="0" bIns="0" rtlCol="0" anchor="t"/>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Bill generation</a:t>
            </a:r>
            <a:endParaRPr lang="en-US" sz="1800" dirty="0"/>
          </a:p>
        </p:txBody>
      </p:sp>
      <p:sp>
        <p:nvSpPr>
          <p:cNvPr id="18" name="Text 16"/>
          <p:cNvSpPr/>
          <p:nvPr/>
        </p:nvSpPr>
        <p:spPr>
          <a:xfrm>
            <a:off x="6476838" y="3229511"/>
            <a:ext cx="2057349" cy="120888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Consultation + lab + medicine charges → total → store and display.</a:t>
            </a:r>
            <a:endParaRPr lang="en-US" sz="1700" dirty="0"/>
          </a:p>
        </p:txBody>
      </p:sp>
      <p:sp>
        <p:nvSpPr>
          <p:cNvPr id="19" name="Shape 17"/>
          <p:cNvSpPr/>
          <p:nvPr/>
        </p:nvSpPr>
        <p:spPr>
          <a:xfrm>
            <a:off x="9067573" y="2114947"/>
            <a:ext cx="2514537" cy="3511153"/>
          </a:xfrm>
          <a:prstGeom prst="roundRect">
            <a:avLst>
              <a:gd name="adj" fmla="val 6061"/>
            </a:avLst>
          </a:prstGeom>
          <a:solidFill>
            <a:srgbClr val="F4F6F8"/>
          </a:solidFill>
          <a:ln/>
        </p:spPr>
      </p:sp>
      <p:sp>
        <p:nvSpPr>
          <p:cNvPr id="20" name="Text 18"/>
          <p:cNvSpPr/>
          <p:nvPr/>
        </p:nvSpPr>
        <p:spPr>
          <a:xfrm>
            <a:off x="9296167" y="2343547"/>
            <a:ext cx="890466" cy="215900"/>
          </a:xfrm>
          <a:prstGeom prst="rect">
            <a:avLst/>
          </a:prstGeom>
          <a:noFill/>
          <a:ln/>
        </p:spPr>
        <p:txBody>
          <a:bodyPr wrap="none" lIns="0" tIns="0" rIns="0" bIns="0" rtlCol="0" anchor="t"/>
          <a:lstStyle/>
          <a:p>
            <a:pPr algn="l" indent="0" marL="0">
              <a:lnSpc>
                <a:spcPct val="83000"/>
              </a:lnSpc>
              <a:buNone/>
            </a:pPr>
            <a:r>
              <a:rPr lang="en-US" sz="1700" dirty="0">
                <a:solidFill>
                  <a:srgbClr val="1E2328"/>
                </a:solidFill>
                <a:latin typeface="Lexend SemiBold" pitchFamily="34" charset="0"/>
                <a:ea typeface="Lexend SemiBold" pitchFamily="34" charset="-122"/>
                <a:cs typeface="Lexend SemiBold" pitchFamily="34" charset="0"/>
              </a:rPr>
              <a:t>04</a:t>
            </a:r>
            <a:endParaRPr lang="en-US" sz="1700" dirty="0"/>
          </a:p>
        </p:txBody>
      </p:sp>
      <p:sp>
        <p:nvSpPr>
          <p:cNvPr id="21" name="Shape 19"/>
          <p:cNvSpPr/>
          <p:nvPr/>
        </p:nvSpPr>
        <p:spPr>
          <a:xfrm>
            <a:off x="9296167" y="2645767"/>
            <a:ext cx="2057349" cy="19050"/>
          </a:xfrm>
          <a:prstGeom prst="rect">
            <a:avLst/>
          </a:prstGeom>
          <a:solidFill>
            <a:srgbClr val="F25A3C"/>
          </a:solidFill>
          <a:ln/>
        </p:spPr>
      </p:sp>
      <p:sp>
        <p:nvSpPr>
          <p:cNvPr id="22" name="Text 20"/>
          <p:cNvSpPr/>
          <p:nvPr/>
        </p:nvSpPr>
        <p:spPr>
          <a:xfrm>
            <a:off x="9296167" y="2811443"/>
            <a:ext cx="2057349" cy="548481"/>
          </a:xfrm>
          <a:prstGeom prst="rect">
            <a:avLst/>
          </a:prstGeom>
          <a:noFill/>
          <a:ln/>
        </p:spPr>
        <p:txBody>
          <a:bodyPr wrap="square" lIns="0" tIns="0" rIns="0" bIns="0" rtlCol="0" anchor="t">
            <a:normAutofit/>
          </a:bodyPr>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Role-based access</a:t>
            </a:r>
            <a:endParaRPr lang="en-US" sz="1800" dirty="0"/>
          </a:p>
        </p:txBody>
      </p:sp>
      <p:sp>
        <p:nvSpPr>
          <p:cNvPr id="23" name="Text 21"/>
          <p:cNvSpPr/>
          <p:nvPr/>
        </p:nvSpPr>
        <p:spPr>
          <a:xfrm>
            <a:off x="9296167" y="3503751"/>
            <a:ext cx="2057349"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Retrieve role → match permissions → allow or restrict.</a:t>
            </a:r>
            <a:endParaRPr lang="en-US" sz="1700" dirty="0"/>
          </a:p>
        </p:txBody>
      </p:sp>
      <p:sp>
        <p:nvSpPr>
          <p:cNvPr id="24" name="Text 22"/>
          <p:cNvSpPr/>
          <p:nvPr/>
        </p:nvSpPr>
        <p:spPr>
          <a:xfrm>
            <a:off x="609585" y="5828109"/>
            <a:ext cx="10972526" cy="428625"/>
          </a:xfrm>
          <a:prstGeom prst="rect">
            <a:avLst/>
          </a:prstGeom>
          <a:noFill/>
          <a:ln/>
        </p:spPr>
        <p:txBody>
          <a:bodyPr wrap="square" lIns="0" tIns="0" rIns="0" bIns="0" rtlCol="0" anchor="t">
            <a:normAutofit/>
          </a:bodyPr>
          <a:lstStyle/>
          <a:p>
            <a:pPr algn="l" indent="0" marL="0">
              <a:lnSpc>
                <a:spcPct val="112000"/>
              </a:lnSpc>
              <a:buNone/>
            </a:pPr>
            <a:r>
              <a:rPr lang="en-US" sz="1250" dirty="0">
                <a:solidFill>
                  <a:srgbClr val="555D66"/>
                </a:solidFill>
                <a:latin typeface="Lexend" pitchFamily="34" charset="0"/>
                <a:ea typeface="Lexend" pitchFamily="34" charset="-122"/>
                <a:cs typeface="Lexend" pitchFamily="34" charset="0"/>
              </a:rPr>
              <a:t>Express routes /login, /addPatient, /appointment and /billing · authorize(role) middleware returns 403 “Access denied” · Mongoose Patient schema.</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1E2328"/>
                </a:solidFill>
                <a:latin typeface="Martian Mono Medium" pitchFamily="34" charset="0"/>
                <a:ea typeface="Martian Mono Medium" pitchFamily="34" charset="-122"/>
                <a:cs typeface="Martian Mono Medium" pitchFamily="34" charset="0"/>
              </a:rPr>
              <a:t>SAMPLE OUTPUT</a:t>
            </a:r>
            <a:endParaRPr lang="en-US" sz="1200" dirty="0"/>
          </a:p>
        </p:txBody>
      </p:sp>
      <p:sp>
        <p:nvSpPr>
          <p:cNvPr id="3" name="Text 1"/>
          <p:cNvSpPr/>
          <p:nvPr/>
        </p:nvSpPr>
        <p:spPr>
          <a:xfrm>
            <a:off x="609585" y="914672"/>
            <a:ext cx="10972526" cy="1005681"/>
          </a:xfrm>
          <a:prstGeom prst="rect">
            <a:avLst/>
          </a:prstGeom>
          <a:noFill/>
          <a:ln/>
        </p:spPr>
        <p:txBody>
          <a:bodyPr wrap="square" lIns="0" tIns="0" rIns="0" bIns="0" rtlCol="0" anchor="t">
            <a:normAutofit/>
          </a:bodyPr>
          <a:lstStyle/>
          <a:p>
            <a:pPr algn="l" indent="0" marL="0">
              <a:lnSpc>
                <a:spcPct val="92000"/>
              </a:lnSpc>
              <a:buNone/>
            </a:pPr>
            <a:r>
              <a:rPr lang="en-US" sz="3600" b="1" spc="-54" kern="100" dirty="0">
                <a:solidFill>
                  <a:srgbClr val="1E2328"/>
                </a:solidFill>
                <a:latin typeface="Syne Bold" pitchFamily="34" charset="0"/>
                <a:ea typeface="Syne Bold" pitchFamily="34" charset="-122"/>
                <a:cs typeface="Syne Bold" pitchFamily="34" charset="0"/>
              </a:rPr>
              <a:t>Sample output shows the workflow from entry to action</a:t>
            </a:r>
            <a:endParaRPr lang="en-US" sz="3600" dirty="0"/>
          </a:p>
        </p:txBody>
      </p:sp>
      <p:sp>
        <p:nvSpPr>
          <p:cNvPr id="4" name="Shape 2"/>
          <p:cNvSpPr/>
          <p:nvPr/>
        </p:nvSpPr>
        <p:spPr>
          <a:xfrm>
            <a:off x="609585" y="2114947"/>
            <a:ext cx="3581310" cy="1990527"/>
          </a:xfrm>
          <a:prstGeom prst="roundRect">
            <a:avLst>
              <a:gd name="adj" fmla="val 7656"/>
            </a:avLst>
          </a:prstGeom>
          <a:solidFill>
            <a:srgbClr val="F4F6F8"/>
          </a:solidFill>
          <a:ln/>
        </p:spPr>
      </p:sp>
      <p:sp>
        <p:nvSpPr>
          <p:cNvPr id="5" name="Shape 3"/>
          <p:cNvSpPr/>
          <p:nvPr/>
        </p:nvSpPr>
        <p:spPr>
          <a:xfrm>
            <a:off x="838179" y="2343547"/>
            <a:ext cx="3124122" cy="578445"/>
          </a:xfrm>
          <a:prstGeom prst="roundRect">
            <a:avLst>
              <a:gd name="adj" fmla="val 12541"/>
            </a:avLst>
          </a:prstGeom>
          <a:noFill/>
          <a:ln w="6350">
            <a:solidFill>
              <a:srgbClr val="1E2328"/>
            </a:solidFill>
            <a:prstDash val="solid"/>
          </a:ln>
        </p:spPr>
      </p:sp>
      <p:sp>
        <p:nvSpPr>
          <p:cNvPr id="6" name="Text 4"/>
          <p:cNvSpPr/>
          <p:nvPr/>
        </p:nvSpPr>
        <p:spPr>
          <a:xfrm>
            <a:off x="967656" y="2418779"/>
            <a:ext cx="2865167" cy="449064"/>
          </a:xfrm>
          <a:prstGeom prst="rect">
            <a:avLst/>
          </a:prstGeom>
          <a:noFill/>
          <a:ln/>
        </p:spPr>
        <p:txBody>
          <a:bodyPr wrap="square" lIns="0" tIns="0" rIns="0" bIns="0" rtlCol="0" anchor="t">
            <a:normAutofit/>
          </a:bodyPr>
          <a:lstStyle/>
          <a:p>
            <a:pPr algn="l" indent="0" marL="0">
              <a:lnSpc>
                <a:spcPct val="108000"/>
              </a:lnSpc>
              <a:buNone/>
            </a:pPr>
            <a:r>
              <a:rPr lang="en-US" sz="1350" spc="82" kern="100" dirty="0">
                <a:solidFill>
                  <a:srgbClr val="1E2328"/>
                </a:solidFill>
                <a:latin typeface="Martian Mono Medium" pitchFamily="34" charset="0"/>
                <a:ea typeface="Martian Mono Medium" pitchFamily="34" charset="-122"/>
                <a:cs typeface="Martian Mono Medium" pitchFamily="34" charset="0"/>
              </a:rPr>
              <a:t>SCREENSHOT PLACEHOLDER</a:t>
            </a:r>
            <a:endParaRPr lang="en-US" sz="1350" dirty="0"/>
          </a:p>
        </p:txBody>
      </p:sp>
      <p:sp>
        <p:nvSpPr>
          <p:cNvPr id="7" name="Text 5"/>
          <p:cNvSpPr/>
          <p:nvPr/>
        </p:nvSpPr>
        <p:spPr>
          <a:xfrm>
            <a:off x="838179" y="3024862"/>
            <a:ext cx="3124122" cy="274241"/>
          </a:xfrm>
          <a:prstGeom prst="rect">
            <a:avLst/>
          </a:prstGeom>
          <a:noFill/>
          <a:ln/>
        </p:spPr>
        <p:txBody>
          <a:bodyPr wrap="none" lIns="0" tIns="0" rIns="0" bIns="0" rtlCol="0" anchor="t"/>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Role Selection page</a:t>
            </a:r>
            <a:endParaRPr lang="en-US" sz="1800" dirty="0"/>
          </a:p>
        </p:txBody>
      </p:sp>
      <p:sp>
        <p:nvSpPr>
          <p:cNvPr id="8" name="Text 6"/>
          <p:cNvSpPr/>
          <p:nvPr/>
        </p:nvSpPr>
        <p:spPr>
          <a:xfrm>
            <a:off x="838179" y="3445867"/>
            <a:ext cx="3352716" cy="214313"/>
          </a:xfrm>
          <a:prstGeom prst="rect">
            <a:avLst/>
          </a:prstGeom>
          <a:noFill/>
          <a:ln/>
        </p:spPr>
        <p:txBody>
          <a:bodyPr wrap="none" lIns="0" tIns="0" rIns="0" bIns="0" rtlCol="0" anchor="t"/>
          <a:lstStyle/>
          <a:p>
            <a:pPr algn="l" indent="0" marL="0">
              <a:lnSpc>
                <a:spcPct val="112000"/>
              </a:lnSpc>
              <a:buNone/>
            </a:pPr>
            <a:r>
              <a:rPr lang="en-US" sz="1250" dirty="0">
                <a:solidFill>
                  <a:srgbClr val="1E2328"/>
                </a:solidFill>
                <a:latin typeface="Lexend" pitchFamily="34" charset="0"/>
                <a:ea typeface="Lexend" pitchFamily="34" charset="-122"/>
                <a:cs typeface="Lexend" pitchFamily="34" charset="0"/>
              </a:rPr>
              <a:t>Role-based entry point.</a:t>
            </a:r>
            <a:endParaRPr lang="en-US" sz="1250" dirty="0"/>
          </a:p>
        </p:txBody>
      </p:sp>
      <p:sp>
        <p:nvSpPr>
          <p:cNvPr id="9" name="Shape 7"/>
          <p:cNvSpPr/>
          <p:nvPr/>
        </p:nvSpPr>
        <p:spPr>
          <a:xfrm>
            <a:off x="4343291" y="2114947"/>
            <a:ext cx="3505112" cy="1990527"/>
          </a:xfrm>
          <a:prstGeom prst="roundRect">
            <a:avLst>
              <a:gd name="adj" fmla="val 7656"/>
            </a:avLst>
          </a:prstGeom>
          <a:solidFill>
            <a:srgbClr val="F4F6F8"/>
          </a:solidFill>
          <a:ln/>
        </p:spPr>
      </p:sp>
      <p:sp>
        <p:nvSpPr>
          <p:cNvPr id="10" name="Shape 8"/>
          <p:cNvSpPr/>
          <p:nvPr/>
        </p:nvSpPr>
        <p:spPr>
          <a:xfrm>
            <a:off x="4571886" y="2343547"/>
            <a:ext cx="3047924" cy="578445"/>
          </a:xfrm>
          <a:prstGeom prst="roundRect">
            <a:avLst>
              <a:gd name="adj" fmla="val 12541"/>
            </a:avLst>
          </a:prstGeom>
          <a:noFill/>
          <a:ln w="6350">
            <a:solidFill>
              <a:srgbClr val="1E2328"/>
            </a:solidFill>
            <a:prstDash val="solid"/>
          </a:ln>
        </p:spPr>
      </p:sp>
      <p:sp>
        <p:nvSpPr>
          <p:cNvPr id="11" name="Text 9"/>
          <p:cNvSpPr/>
          <p:nvPr/>
        </p:nvSpPr>
        <p:spPr>
          <a:xfrm>
            <a:off x="4701363" y="2418779"/>
            <a:ext cx="2788969" cy="449064"/>
          </a:xfrm>
          <a:prstGeom prst="rect">
            <a:avLst/>
          </a:prstGeom>
          <a:noFill/>
          <a:ln/>
        </p:spPr>
        <p:txBody>
          <a:bodyPr wrap="square" lIns="0" tIns="0" rIns="0" bIns="0" rtlCol="0" anchor="t">
            <a:normAutofit/>
          </a:bodyPr>
          <a:lstStyle/>
          <a:p>
            <a:pPr algn="l" indent="0" marL="0">
              <a:lnSpc>
                <a:spcPct val="108000"/>
              </a:lnSpc>
              <a:buNone/>
            </a:pPr>
            <a:r>
              <a:rPr lang="en-US" sz="1350" spc="82" kern="100" dirty="0">
                <a:solidFill>
                  <a:srgbClr val="1E2328"/>
                </a:solidFill>
                <a:latin typeface="Martian Mono Medium" pitchFamily="34" charset="0"/>
                <a:ea typeface="Martian Mono Medium" pitchFamily="34" charset="-122"/>
                <a:cs typeface="Martian Mono Medium" pitchFamily="34" charset="0"/>
              </a:rPr>
              <a:t>SCREENSHOT PLACEHOLDER</a:t>
            </a:r>
            <a:endParaRPr lang="en-US" sz="1350" dirty="0"/>
          </a:p>
        </p:txBody>
      </p:sp>
      <p:sp>
        <p:nvSpPr>
          <p:cNvPr id="12" name="Text 10"/>
          <p:cNvSpPr/>
          <p:nvPr/>
        </p:nvSpPr>
        <p:spPr>
          <a:xfrm>
            <a:off x="4571886" y="3024862"/>
            <a:ext cx="3047924" cy="274241"/>
          </a:xfrm>
          <a:prstGeom prst="rect">
            <a:avLst/>
          </a:prstGeom>
          <a:noFill/>
          <a:ln/>
        </p:spPr>
        <p:txBody>
          <a:bodyPr wrap="none" lIns="0" tIns="0" rIns="0" bIns="0" rtlCol="0" anchor="t"/>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Login page</a:t>
            </a:r>
            <a:endParaRPr lang="en-US" sz="1800" dirty="0"/>
          </a:p>
        </p:txBody>
      </p:sp>
      <p:sp>
        <p:nvSpPr>
          <p:cNvPr id="13" name="Text 11"/>
          <p:cNvSpPr/>
          <p:nvPr/>
        </p:nvSpPr>
        <p:spPr>
          <a:xfrm>
            <a:off x="4571886" y="3445867"/>
            <a:ext cx="3276518" cy="214313"/>
          </a:xfrm>
          <a:prstGeom prst="rect">
            <a:avLst/>
          </a:prstGeom>
          <a:noFill/>
          <a:ln/>
        </p:spPr>
        <p:txBody>
          <a:bodyPr wrap="none" lIns="0" tIns="0" rIns="0" bIns="0" rtlCol="0" anchor="t"/>
          <a:lstStyle/>
          <a:p>
            <a:pPr algn="l" indent="0" marL="0">
              <a:lnSpc>
                <a:spcPct val="112000"/>
              </a:lnSpc>
              <a:buNone/>
            </a:pPr>
            <a:r>
              <a:rPr lang="en-US" sz="1250" dirty="0">
                <a:solidFill>
                  <a:srgbClr val="1E2328"/>
                </a:solidFill>
                <a:latin typeface="Lexend" pitchFamily="34" charset="0"/>
                <a:ea typeface="Lexend" pitchFamily="34" charset="-122"/>
                <a:cs typeface="Lexend" pitchFamily="34" charset="0"/>
              </a:rPr>
              <a:t>Secure login.</a:t>
            </a:r>
            <a:endParaRPr lang="en-US" sz="1250" dirty="0"/>
          </a:p>
        </p:txBody>
      </p:sp>
      <p:sp>
        <p:nvSpPr>
          <p:cNvPr id="14" name="Shape 12"/>
          <p:cNvSpPr/>
          <p:nvPr/>
        </p:nvSpPr>
        <p:spPr>
          <a:xfrm>
            <a:off x="8000800" y="2114947"/>
            <a:ext cx="3581310" cy="1990527"/>
          </a:xfrm>
          <a:prstGeom prst="roundRect">
            <a:avLst>
              <a:gd name="adj" fmla="val 7656"/>
            </a:avLst>
          </a:prstGeom>
          <a:solidFill>
            <a:srgbClr val="F4F6F8"/>
          </a:solidFill>
          <a:ln/>
        </p:spPr>
      </p:sp>
      <p:sp>
        <p:nvSpPr>
          <p:cNvPr id="15" name="Shape 13"/>
          <p:cNvSpPr/>
          <p:nvPr/>
        </p:nvSpPr>
        <p:spPr>
          <a:xfrm>
            <a:off x="8229394" y="2343547"/>
            <a:ext cx="3124122" cy="578445"/>
          </a:xfrm>
          <a:prstGeom prst="roundRect">
            <a:avLst>
              <a:gd name="adj" fmla="val 12541"/>
            </a:avLst>
          </a:prstGeom>
          <a:noFill/>
          <a:ln w="6350">
            <a:solidFill>
              <a:srgbClr val="1E2328"/>
            </a:solidFill>
            <a:prstDash val="solid"/>
          </a:ln>
        </p:spPr>
      </p:sp>
      <p:sp>
        <p:nvSpPr>
          <p:cNvPr id="16" name="Text 14"/>
          <p:cNvSpPr/>
          <p:nvPr/>
        </p:nvSpPr>
        <p:spPr>
          <a:xfrm>
            <a:off x="8358871" y="2418779"/>
            <a:ext cx="2865167" cy="449064"/>
          </a:xfrm>
          <a:prstGeom prst="rect">
            <a:avLst/>
          </a:prstGeom>
          <a:noFill/>
          <a:ln/>
        </p:spPr>
        <p:txBody>
          <a:bodyPr wrap="square" lIns="0" tIns="0" rIns="0" bIns="0" rtlCol="0" anchor="t">
            <a:normAutofit/>
          </a:bodyPr>
          <a:lstStyle/>
          <a:p>
            <a:pPr algn="l" indent="0" marL="0">
              <a:lnSpc>
                <a:spcPct val="108000"/>
              </a:lnSpc>
              <a:buNone/>
            </a:pPr>
            <a:r>
              <a:rPr lang="en-US" sz="1350" spc="82" kern="100" dirty="0">
                <a:solidFill>
                  <a:srgbClr val="1E2328"/>
                </a:solidFill>
                <a:latin typeface="Martian Mono Medium" pitchFamily="34" charset="0"/>
                <a:ea typeface="Martian Mono Medium" pitchFamily="34" charset="-122"/>
                <a:cs typeface="Martian Mono Medium" pitchFamily="34" charset="0"/>
              </a:rPr>
              <a:t>SCREENSHOT PLACEHOLDER</a:t>
            </a:r>
            <a:endParaRPr lang="en-US" sz="1350" dirty="0"/>
          </a:p>
        </p:txBody>
      </p:sp>
      <p:sp>
        <p:nvSpPr>
          <p:cNvPr id="17" name="Text 15"/>
          <p:cNvSpPr/>
          <p:nvPr/>
        </p:nvSpPr>
        <p:spPr>
          <a:xfrm>
            <a:off x="8229394" y="3024862"/>
            <a:ext cx="3124122" cy="274241"/>
          </a:xfrm>
          <a:prstGeom prst="rect">
            <a:avLst/>
          </a:prstGeom>
          <a:noFill/>
          <a:ln/>
        </p:spPr>
        <p:txBody>
          <a:bodyPr wrap="none" lIns="0" tIns="0" rIns="0" bIns="0" rtlCol="0" anchor="t"/>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Admin Dashboard</a:t>
            </a:r>
            <a:endParaRPr lang="en-US" sz="1800" dirty="0"/>
          </a:p>
        </p:txBody>
      </p:sp>
      <p:sp>
        <p:nvSpPr>
          <p:cNvPr id="18" name="Text 16"/>
          <p:cNvSpPr/>
          <p:nvPr/>
        </p:nvSpPr>
        <p:spPr>
          <a:xfrm>
            <a:off x="8229394" y="3445867"/>
            <a:ext cx="3352716" cy="214313"/>
          </a:xfrm>
          <a:prstGeom prst="rect">
            <a:avLst/>
          </a:prstGeom>
          <a:noFill/>
          <a:ln/>
        </p:spPr>
        <p:txBody>
          <a:bodyPr wrap="none" lIns="0" tIns="0" rIns="0" bIns="0" rtlCol="0" anchor="t"/>
          <a:lstStyle/>
          <a:p>
            <a:pPr algn="l" indent="0" marL="0">
              <a:lnSpc>
                <a:spcPct val="112000"/>
              </a:lnSpc>
              <a:buNone/>
            </a:pPr>
            <a:r>
              <a:rPr lang="en-US" sz="1250" dirty="0">
                <a:solidFill>
                  <a:srgbClr val="1E2328"/>
                </a:solidFill>
                <a:latin typeface="Lexend" pitchFamily="34" charset="0"/>
                <a:ea typeface="Lexend" pitchFamily="34" charset="-122"/>
                <a:cs typeface="Lexend" pitchFamily="34" charset="0"/>
              </a:rPr>
              <a:t>Dashboard controls.</a:t>
            </a:r>
            <a:endParaRPr lang="en-US" sz="1250" dirty="0"/>
          </a:p>
        </p:txBody>
      </p:sp>
      <p:sp>
        <p:nvSpPr>
          <p:cNvPr id="19" name="Shape 17"/>
          <p:cNvSpPr/>
          <p:nvPr/>
        </p:nvSpPr>
        <p:spPr>
          <a:xfrm>
            <a:off x="609585" y="4257873"/>
            <a:ext cx="3581310" cy="1990527"/>
          </a:xfrm>
          <a:prstGeom prst="roundRect">
            <a:avLst>
              <a:gd name="adj" fmla="val 7656"/>
            </a:avLst>
          </a:prstGeom>
          <a:solidFill>
            <a:srgbClr val="F4F6F8"/>
          </a:solidFill>
          <a:ln/>
        </p:spPr>
      </p:sp>
      <p:sp>
        <p:nvSpPr>
          <p:cNvPr id="20" name="Shape 18"/>
          <p:cNvSpPr/>
          <p:nvPr/>
        </p:nvSpPr>
        <p:spPr>
          <a:xfrm>
            <a:off x="838179" y="4486473"/>
            <a:ext cx="3124122" cy="578445"/>
          </a:xfrm>
          <a:prstGeom prst="roundRect">
            <a:avLst>
              <a:gd name="adj" fmla="val 12541"/>
            </a:avLst>
          </a:prstGeom>
          <a:noFill/>
          <a:ln w="6350">
            <a:solidFill>
              <a:srgbClr val="1E2328"/>
            </a:solidFill>
            <a:prstDash val="solid"/>
          </a:ln>
        </p:spPr>
      </p:sp>
      <p:sp>
        <p:nvSpPr>
          <p:cNvPr id="21" name="Text 19"/>
          <p:cNvSpPr/>
          <p:nvPr/>
        </p:nvSpPr>
        <p:spPr>
          <a:xfrm>
            <a:off x="967656" y="4561705"/>
            <a:ext cx="2865167" cy="449064"/>
          </a:xfrm>
          <a:prstGeom prst="rect">
            <a:avLst/>
          </a:prstGeom>
          <a:noFill/>
          <a:ln/>
        </p:spPr>
        <p:txBody>
          <a:bodyPr wrap="square" lIns="0" tIns="0" rIns="0" bIns="0" rtlCol="0" anchor="t">
            <a:normAutofit/>
          </a:bodyPr>
          <a:lstStyle/>
          <a:p>
            <a:pPr algn="l" indent="0" marL="0">
              <a:lnSpc>
                <a:spcPct val="108000"/>
              </a:lnSpc>
              <a:buNone/>
            </a:pPr>
            <a:r>
              <a:rPr lang="en-US" sz="1350" spc="82" kern="100" dirty="0">
                <a:solidFill>
                  <a:srgbClr val="1E2328"/>
                </a:solidFill>
                <a:latin typeface="Martian Mono Medium" pitchFamily="34" charset="0"/>
                <a:ea typeface="Martian Mono Medium" pitchFamily="34" charset="-122"/>
                <a:cs typeface="Martian Mono Medium" pitchFamily="34" charset="0"/>
              </a:rPr>
              <a:t>SCREENSHOT PLACEHOLDER</a:t>
            </a:r>
            <a:endParaRPr lang="en-US" sz="1350" dirty="0"/>
          </a:p>
        </p:txBody>
      </p:sp>
      <p:sp>
        <p:nvSpPr>
          <p:cNvPr id="22" name="Text 20"/>
          <p:cNvSpPr/>
          <p:nvPr/>
        </p:nvSpPr>
        <p:spPr>
          <a:xfrm>
            <a:off x="838179" y="5167789"/>
            <a:ext cx="3124122" cy="274241"/>
          </a:xfrm>
          <a:prstGeom prst="rect">
            <a:avLst/>
          </a:prstGeom>
          <a:noFill/>
          <a:ln/>
        </p:spPr>
        <p:txBody>
          <a:bodyPr wrap="none" lIns="0" tIns="0" rIns="0" bIns="0" rtlCol="0" anchor="t"/>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Appointment Management</a:t>
            </a:r>
            <a:endParaRPr lang="en-US" sz="1800" dirty="0"/>
          </a:p>
        </p:txBody>
      </p:sp>
      <p:sp>
        <p:nvSpPr>
          <p:cNvPr id="23" name="Text 21"/>
          <p:cNvSpPr/>
          <p:nvPr/>
        </p:nvSpPr>
        <p:spPr>
          <a:xfrm>
            <a:off x="838179" y="5588794"/>
            <a:ext cx="3352716" cy="214313"/>
          </a:xfrm>
          <a:prstGeom prst="rect">
            <a:avLst/>
          </a:prstGeom>
          <a:noFill/>
          <a:ln/>
        </p:spPr>
        <p:txBody>
          <a:bodyPr wrap="none" lIns="0" tIns="0" rIns="0" bIns="0" rtlCol="0" anchor="t"/>
          <a:lstStyle/>
          <a:p>
            <a:pPr algn="l" indent="0" marL="0">
              <a:lnSpc>
                <a:spcPct val="112000"/>
              </a:lnSpc>
              <a:buNone/>
            </a:pPr>
            <a:r>
              <a:rPr lang="en-US" sz="1250" dirty="0">
                <a:solidFill>
                  <a:srgbClr val="1E2328"/>
                </a:solidFill>
                <a:latin typeface="Lexend" pitchFamily="34" charset="0"/>
                <a:ea typeface="Lexend" pitchFamily="34" charset="-122"/>
                <a:cs typeface="Lexend" pitchFamily="34" charset="0"/>
              </a:rPr>
              <a:t>Booking and scheduling form.</a:t>
            </a:r>
            <a:endParaRPr lang="en-US" sz="1250" dirty="0"/>
          </a:p>
        </p:txBody>
      </p:sp>
      <p:sp>
        <p:nvSpPr>
          <p:cNvPr id="24" name="Shape 22"/>
          <p:cNvSpPr/>
          <p:nvPr/>
        </p:nvSpPr>
        <p:spPr>
          <a:xfrm>
            <a:off x="4343291" y="4257873"/>
            <a:ext cx="3505112" cy="1990527"/>
          </a:xfrm>
          <a:prstGeom prst="roundRect">
            <a:avLst>
              <a:gd name="adj" fmla="val 7656"/>
            </a:avLst>
          </a:prstGeom>
          <a:solidFill>
            <a:srgbClr val="F4F6F8"/>
          </a:solidFill>
          <a:ln/>
        </p:spPr>
      </p:sp>
      <p:sp>
        <p:nvSpPr>
          <p:cNvPr id="25" name="Shape 23"/>
          <p:cNvSpPr/>
          <p:nvPr/>
        </p:nvSpPr>
        <p:spPr>
          <a:xfrm>
            <a:off x="4571886" y="4486473"/>
            <a:ext cx="3047924" cy="578445"/>
          </a:xfrm>
          <a:prstGeom prst="roundRect">
            <a:avLst>
              <a:gd name="adj" fmla="val 12541"/>
            </a:avLst>
          </a:prstGeom>
          <a:noFill/>
          <a:ln w="6350">
            <a:solidFill>
              <a:srgbClr val="1E2328"/>
            </a:solidFill>
            <a:prstDash val="solid"/>
          </a:ln>
        </p:spPr>
      </p:sp>
      <p:sp>
        <p:nvSpPr>
          <p:cNvPr id="26" name="Text 24"/>
          <p:cNvSpPr/>
          <p:nvPr/>
        </p:nvSpPr>
        <p:spPr>
          <a:xfrm>
            <a:off x="4701363" y="4561705"/>
            <a:ext cx="2788969" cy="449064"/>
          </a:xfrm>
          <a:prstGeom prst="rect">
            <a:avLst/>
          </a:prstGeom>
          <a:noFill/>
          <a:ln/>
        </p:spPr>
        <p:txBody>
          <a:bodyPr wrap="square" lIns="0" tIns="0" rIns="0" bIns="0" rtlCol="0" anchor="t">
            <a:normAutofit/>
          </a:bodyPr>
          <a:lstStyle/>
          <a:p>
            <a:pPr algn="l" indent="0" marL="0">
              <a:lnSpc>
                <a:spcPct val="108000"/>
              </a:lnSpc>
              <a:buNone/>
            </a:pPr>
            <a:r>
              <a:rPr lang="en-US" sz="1350" spc="82" kern="100" dirty="0">
                <a:solidFill>
                  <a:srgbClr val="1E2328"/>
                </a:solidFill>
                <a:latin typeface="Martian Mono Medium" pitchFamily="34" charset="0"/>
                <a:ea typeface="Martian Mono Medium" pitchFamily="34" charset="-122"/>
                <a:cs typeface="Martian Mono Medium" pitchFamily="34" charset="0"/>
              </a:rPr>
              <a:t>SCREENSHOT PLACEHOLDER</a:t>
            </a:r>
            <a:endParaRPr lang="en-US" sz="1350" dirty="0"/>
          </a:p>
        </p:txBody>
      </p:sp>
      <p:sp>
        <p:nvSpPr>
          <p:cNvPr id="27" name="Text 25"/>
          <p:cNvSpPr/>
          <p:nvPr/>
        </p:nvSpPr>
        <p:spPr>
          <a:xfrm>
            <a:off x="4571886" y="5167789"/>
            <a:ext cx="3047924" cy="274241"/>
          </a:xfrm>
          <a:prstGeom prst="rect">
            <a:avLst/>
          </a:prstGeom>
          <a:noFill/>
          <a:ln/>
        </p:spPr>
        <p:txBody>
          <a:bodyPr wrap="none" lIns="0" tIns="0" rIns="0" bIns="0" rtlCol="0" anchor="t"/>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Doctor Management</a:t>
            </a:r>
            <a:endParaRPr lang="en-US" sz="1800" dirty="0"/>
          </a:p>
        </p:txBody>
      </p:sp>
      <p:sp>
        <p:nvSpPr>
          <p:cNvPr id="28" name="Text 26"/>
          <p:cNvSpPr/>
          <p:nvPr/>
        </p:nvSpPr>
        <p:spPr>
          <a:xfrm>
            <a:off x="4571886" y="5588794"/>
            <a:ext cx="3276518" cy="214313"/>
          </a:xfrm>
          <a:prstGeom prst="rect">
            <a:avLst/>
          </a:prstGeom>
          <a:noFill/>
          <a:ln/>
        </p:spPr>
        <p:txBody>
          <a:bodyPr wrap="none" lIns="0" tIns="0" rIns="0" bIns="0" rtlCol="0" anchor="t"/>
          <a:lstStyle/>
          <a:p>
            <a:pPr algn="l" indent="0" marL="0">
              <a:lnSpc>
                <a:spcPct val="112000"/>
              </a:lnSpc>
              <a:buNone/>
            </a:pPr>
            <a:r>
              <a:rPr lang="en-US" sz="1250" dirty="0">
                <a:solidFill>
                  <a:srgbClr val="1E2328"/>
                </a:solidFill>
                <a:latin typeface="Lexend" pitchFamily="34" charset="0"/>
                <a:ea typeface="Lexend" pitchFamily="34" charset="-122"/>
                <a:cs typeface="Lexend" pitchFamily="34" charset="0"/>
              </a:rPr>
              <a:t>Doctor profiles and management.</a:t>
            </a:r>
            <a:endParaRPr lang="en-US" sz="1250" dirty="0"/>
          </a:p>
        </p:txBody>
      </p:sp>
      <p:sp>
        <p:nvSpPr>
          <p:cNvPr id="29" name="Shape 27"/>
          <p:cNvSpPr/>
          <p:nvPr/>
        </p:nvSpPr>
        <p:spPr>
          <a:xfrm>
            <a:off x="8000800" y="4257873"/>
            <a:ext cx="3581310" cy="1990527"/>
          </a:xfrm>
          <a:prstGeom prst="roundRect">
            <a:avLst>
              <a:gd name="adj" fmla="val 7656"/>
            </a:avLst>
          </a:prstGeom>
          <a:solidFill>
            <a:srgbClr val="F4F6F8"/>
          </a:solidFill>
          <a:ln/>
        </p:spPr>
      </p:sp>
      <p:sp>
        <p:nvSpPr>
          <p:cNvPr id="30" name="Shape 28"/>
          <p:cNvSpPr/>
          <p:nvPr/>
        </p:nvSpPr>
        <p:spPr>
          <a:xfrm>
            <a:off x="8229394" y="4486473"/>
            <a:ext cx="3124122" cy="578445"/>
          </a:xfrm>
          <a:prstGeom prst="roundRect">
            <a:avLst>
              <a:gd name="adj" fmla="val 12541"/>
            </a:avLst>
          </a:prstGeom>
          <a:noFill/>
          <a:ln w="6350">
            <a:solidFill>
              <a:srgbClr val="1E2328"/>
            </a:solidFill>
            <a:prstDash val="solid"/>
          </a:ln>
        </p:spPr>
      </p:sp>
      <p:sp>
        <p:nvSpPr>
          <p:cNvPr id="31" name="Text 29"/>
          <p:cNvSpPr/>
          <p:nvPr/>
        </p:nvSpPr>
        <p:spPr>
          <a:xfrm>
            <a:off x="8358871" y="4561705"/>
            <a:ext cx="2865167" cy="449064"/>
          </a:xfrm>
          <a:prstGeom prst="rect">
            <a:avLst/>
          </a:prstGeom>
          <a:noFill/>
          <a:ln/>
        </p:spPr>
        <p:txBody>
          <a:bodyPr wrap="square" lIns="0" tIns="0" rIns="0" bIns="0" rtlCol="0" anchor="t">
            <a:normAutofit/>
          </a:bodyPr>
          <a:lstStyle/>
          <a:p>
            <a:pPr algn="l" indent="0" marL="0">
              <a:lnSpc>
                <a:spcPct val="108000"/>
              </a:lnSpc>
              <a:buNone/>
            </a:pPr>
            <a:r>
              <a:rPr lang="en-US" sz="1350" spc="82" kern="100" dirty="0">
                <a:solidFill>
                  <a:srgbClr val="1E2328"/>
                </a:solidFill>
                <a:latin typeface="Martian Mono Medium" pitchFamily="34" charset="0"/>
                <a:ea typeface="Martian Mono Medium" pitchFamily="34" charset="-122"/>
                <a:cs typeface="Martian Mono Medium" pitchFamily="34" charset="0"/>
              </a:rPr>
              <a:t>SCREENSHOT PLACEHOLDER</a:t>
            </a:r>
            <a:endParaRPr lang="en-US" sz="1350" dirty="0"/>
          </a:p>
        </p:txBody>
      </p:sp>
      <p:sp>
        <p:nvSpPr>
          <p:cNvPr id="32" name="Text 30"/>
          <p:cNvSpPr/>
          <p:nvPr/>
        </p:nvSpPr>
        <p:spPr>
          <a:xfrm>
            <a:off x="8229394" y="5167789"/>
            <a:ext cx="3124122" cy="274241"/>
          </a:xfrm>
          <a:prstGeom prst="rect">
            <a:avLst/>
          </a:prstGeom>
          <a:noFill/>
          <a:ln/>
        </p:spPr>
        <p:txBody>
          <a:bodyPr wrap="none" lIns="0" tIns="0" rIns="0" bIns="0" rtlCol="0" anchor="t"/>
          <a:lstStyle/>
          <a:p>
            <a:pPr algn="l" indent="0" marL="0">
              <a:lnSpc>
                <a:spcPct val="100000"/>
              </a:lnSpc>
              <a:buNone/>
            </a:pPr>
            <a:r>
              <a:rPr lang="en-US" sz="1800" dirty="0">
                <a:solidFill>
                  <a:srgbClr val="1E2328"/>
                </a:solidFill>
                <a:latin typeface="Lexend SemiBold" pitchFamily="34" charset="0"/>
                <a:ea typeface="Lexend SemiBold" pitchFamily="34" charset="-122"/>
                <a:cs typeface="Lexend SemiBold" pitchFamily="34" charset="0"/>
              </a:rPr>
              <a:t>Patient Registration</a:t>
            </a:r>
            <a:endParaRPr lang="en-US" sz="1800" dirty="0"/>
          </a:p>
        </p:txBody>
      </p:sp>
      <p:sp>
        <p:nvSpPr>
          <p:cNvPr id="33" name="Text 31"/>
          <p:cNvSpPr/>
          <p:nvPr/>
        </p:nvSpPr>
        <p:spPr>
          <a:xfrm>
            <a:off x="8229394" y="5588794"/>
            <a:ext cx="3352716" cy="214313"/>
          </a:xfrm>
          <a:prstGeom prst="rect">
            <a:avLst/>
          </a:prstGeom>
          <a:noFill/>
          <a:ln/>
        </p:spPr>
        <p:txBody>
          <a:bodyPr wrap="none" lIns="0" tIns="0" rIns="0" bIns="0" rtlCol="0" anchor="t"/>
          <a:lstStyle/>
          <a:p>
            <a:pPr algn="l" indent="0" marL="0">
              <a:lnSpc>
                <a:spcPct val="112000"/>
              </a:lnSpc>
              <a:buNone/>
            </a:pPr>
            <a:r>
              <a:rPr lang="en-US" sz="1250" dirty="0">
                <a:solidFill>
                  <a:srgbClr val="1E2328"/>
                </a:solidFill>
                <a:latin typeface="Lexend" pitchFamily="34" charset="0"/>
                <a:ea typeface="Lexend" pitchFamily="34" charset="-122"/>
                <a:cs typeface="Lexend" pitchFamily="34" charset="0"/>
              </a:rPr>
              <a:t>Patient registration form.</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21983"/>
            <a:ext cx="11582110"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1E2328"/>
                </a:solidFill>
                <a:latin typeface="Martian Mono Medium" pitchFamily="34" charset="0"/>
                <a:ea typeface="Martian Mono Medium" pitchFamily="34" charset="-122"/>
                <a:cs typeface="Martian Mono Medium" pitchFamily="34" charset="0"/>
              </a:rPr>
              <a:t>VALIDATION</a:t>
            </a:r>
            <a:endParaRPr lang="en-US" sz="1200" dirty="0"/>
          </a:p>
        </p:txBody>
      </p:sp>
      <p:sp>
        <p:nvSpPr>
          <p:cNvPr id="3" name="Text 1"/>
          <p:cNvSpPr/>
          <p:nvPr/>
        </p:nvSpPr>
        <p:spPr>
          <a:xfrm>
            <a:off x="609585" y="914672"/>
            <a:ext cx="10972526" cy="1005681"/>
          </a:xfrm>
          <a:prstGeom prst="rect">
            <a:avLst/>
          </a:prstGeom>
          <a:noFill/>
          <a:ln/>
        </p:spPr>
        <p:txBody>
          <a:bodyPr wrap="square" lIns="0" tIns="0" rIns="0" bIns="0" rtlCol="0" anchor="t">
            <a:normAutofit/>
          </a:bodyPr>
          <a:lstStyle/>
          <a:p>
            <a:pPr algn="l" indent="0" marL="0">
              <a:lnSpc>
                <a:spcPct val="92000"/>
              </a:lnSpc>
              <a:buNone/>
            </a:pPr>
            <a:r>
              <a:rPr lang="en-US" sz="3600" b="1" spc="-54" kern="100" dirty="0">
                <a:solidFill>
                  <a:srgbClr val="1E2328"/>
                </a:solidFill>
                <a:latin typeface="Syne Bold" pitchFamily="34" charset="0"/>
                <a:ea typeface="Syne Bold" pitchFamily="34" charset="-122"/>
                <a:cs typeface="Syne Bold" pitchFamily="34" charset="0"/>
              </a:rPr>
              <a:t>Testing focused on reliability at every handoff</a:t>
            </a:r>
            <a:endParaRPr lang="en-US" sz="3600" dirty="0"/>
          </a:p>
        </p:txBody>
      </p:sp>
      <p:sp>
        <p:nvSpPr>
          <p:cNvPr id="4" name="Shape 2"/>
          <p:cNvSpPr/>
          <p:nvPr/>
        </p:nvSpPr>
        <p:spPr>
          <a:xfrm>
            <a:off x="609585" y="2141617"/>
            <a:ext cx="558786" cy="558800"/>
          </a:xfrm>
          <a:prstGeom prst="ellipse">
            <a:avLst/>
          </a:prstGeom>
          <a:solidFill>
            <a:srgbClr val="F25A3C"/>
          </a:solidFill>
          <a:ln/>
        </p:spPr>
      </p:sp>
      <p:pic>
        <p:nvPicPr>
          <p:cNvPr id="5" name="Image 0" descr="preencoded.png">    </p:cNvPr>
          <p:cNvPicPr>
            <a:picLocks noChangeAspect="1"/>
          </p:cNvPicPr>
          <p:nvPr/>
        </p:nvPicPr>
        <p:blipFill>
          <a:blip r:embed="rId1"/>
          <a:stretch>
            <a:fillRect/>
          </a:stretch>
        </p:blipFill>
        <p:spPr>
          <a:xfrm>
            <a:off x="711182" y="2243217"/>
            <a:ext cx="355591" cy="355600"/>
          </a:xfrm>
          <a:prstGeom prst="rect">
            <a:avLst/>
          </a:prstGeom>
        </p:spPr>
      </p:pic>
      <p:sp>
        <p:nvSpPr>
          <p:cNvPr id="6" name="Text 3"/>
          <p:cNvSpPr/>
          <p:nvPr/>
        </p:nvSpPr>
        <p:spPr>
          <a:xfrm>
            <a:off x="1257269" y="2376924"/>
            <a:ext cx="4609985" cy="906661"/>
          </a:xfrm>
          <a:prstGeom prst="rect">
            <a:avLst/>
          </a:prstGeom>
          <a:noFill/>
          <a:ln/>
        </p:spPr>
        <p:txBody>
          <a:bodyPr wrap="square" lIns="0" tIns="0" rIns="0" bIns="0" rtlCol="0" anchor="t">
            <a:normAutofit/>
          </a:bodyPr>
          <a:lstStyle/>
          <a:p>
            <a:pPr algn="l" indent="0" marL="0">
              <a:lnSpc>
                <a:spcPct val="117000"/>
              </a:lnSpc>
              <a:buNone/>
            </a:pPr>
            <a:r>
              <a:rPr lang="en-US" sz="1700" b="1" dirty="0">
                <a:solidFill>
                  <a:srgbClr val="1E2328"/>
                </a:solidFill>
                <a:latin typeface="Lexend Bold" pitchFamily="34" charset="0"/>
                <a:ea typeface="Lexend Bold" pitchFamily="34" charset="-122"/>
                <a:cs typeface="Lexend Bold" pitchFamily="34" charset="0"/>
              </a:rPr>
              <a:t>Module-by-module testing:</a:t>
            </a:r>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 Authentication, registration, scheduling, billing and access control.</a:t>
            </a:r>
            <a:endParaRPr lang="en-US" sz="1700" dirty="0"/>
          </a:p>
        </p:txBody>
      </p:sp>
      <p:sp>
        <p:nvSpPr>
          <p:cNvPr id="7" name="Shape 4"/>
          <p:cNvSpPr/>
          <p:nvPr/>
        </p:nvSpPr>
        <p:spPr>
          <a:xfrm>
            <a:off x="609585" y="3609658"/>
            <a:ext cx="558786" cy="558800"/>
          </a:xfrm>
          <a:prstGeom prst="ellipse">
            <a:avLst/>
          </a:prstGeom>
          <a:solidFill>
            <a:srgbClr val="F25A3C"/>
          </a:solidFill>
          <a:ln/>
        </p:spPr>
      </p:sp>
      <p:pic>
        <p:nvPicPr>
          <p:cNvPr id="8" name="Image 1" descr="preencoded.png">    </p:cNvPr>
          <p:cNvPicPr>
            <a:picLocks noChangeAspect="1"/>
          </p:cNvPicPr>
          <p:nvPr/>
        </p:nvPicPr>
        <p:blipFill>
          <a:blip r:embed="rId2"/>
          <a:stretch>
            <a:fillRect/>
          </a:stretch>
        </p:blipFill>
        <p:spPr>
          <a:xfrm>
            <a:off x="711182" y="3711258"/>
            <a:ext cx="355591" cy="355600"/>
          </a:xfrm>
          <a:prstGeom prst="rect">
            <a:avLst/>
          </a:prstGeom>
        </p:spPr>
      </p:pic>
      <p:sp>
        <p:nvSpPr>
          <p:cNvPr id="9" name="Text 5"/>
          <p:cNvSpPr/>
          <p:nvPr/>
        </p:nvSpPr>
        <p:spPr>
          <a:xfrm>
            <a:off x="1257269" y="3844965"/>
            <a:ext cx="4609985" cy="906661"/>
          </a:xfrm>
          <a:prstGeom prst="rect">
            <a:avLst/>
          </a:prstGeom>
          <a:noFill/>
          <a:ln/>
        </p:spPr>
        <p:txBody>
          <a:bodyPr wrap="square" lIns="0" tIns="0" rIns="0" bIns="0" rtlCol="0" anchor="t">
            <a:normAutofit/>
          </a:bodyPr>
          <a:lstStyle/>
          <a:p>
            <a:pPr algn="l" indent="0" marL="0">
              <a:lnSpc>
                <a:spcPct val="117000"/>
              </a:lnSpc>
              <a:buNone/>
            </a:pPr>
            <a:r>
              <a:rPr lang="en-US" sz="1700" b="1" dirty="0">
                <a:solidFill>
                  <a:srgbClr val="1E2328"/>
                </a:solidFill>
                <a:latin typeface="Lexend Bold" pitchFamily="34" charset="0"/>
                <a:ea typeface="Lexend Bold" pitchFamily="34" charset="-122"/>
                <a:cs typeface="Lexend Bold" pitchFamily="34" charset="0"/>
              </a:rPr>
              <a:t>Edge cases:</a:t>
            </a:r>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 Invalid logins, duplicate entries, incomplete forms and scheduling conflicts.</a:t>
            </a:r>
            <a:endParaRPr lang="en-US" sz="1700" dirty="0"/>
          </a:p>
        </p:txBody>
      </p:sp>
      <p:sp>
        <p:nvSpPr>
          <p:cNvPr id="10" name="Shape 6"/>
          <p:cNvSpPr/>
          <p:nvPr/>
        </p:nvSpPr>
        <p:spPr>
          <a:xfrm>
            <a:off x="609585" y="5077698"/>
            <a:ext cx="558786" cy="558800"/>
          </a:xfrm>
          <a:prstGeom prst="ellipse">
            <a:avLst/>
          </a:prstGeom>
          <a:solidFill>
            <a:srgbClr val="F25A3C"/>
          </a:solidFill>
          <a:ln/>
        </p:spPr>
      </p:sp>
      <p:pic>
        <p:nvPicPr>
          <p:cNvPr id="11" name="Image 2" descr="preencoded.png">    </p:cNvPr>
          <p:cNvPicPr>
            <a:picLocks noChangeAspect="1"/>
          </p:cNvPicPr>
          <p:nvPr/>
        </p:nvPicPr>
        <p:blipFill>
          <a:blip r:embed="rId3"/>
          <a:stretch>
            <a:fillRect/>
          </a:stretch>
        </p:blipFill>
        <p:spPr>
          <a:xfrm>
            <a:off x="711182" y="5179298"/>
            <a:ext cx="355591" cy="355600"/>
          </a:xfrm>
          <a:prstGeom prst="rect">
            <a:avLst/>
          </a:prstGeom>
        </p:spPr>
      </p:pic>
      <p:sp>
        <p:nvSpPr>
          <p:cNvPr id="12" name="Text 7"/>
          <p:cNvSpPr/>
          <p:nvPr/>
        </p:nvSpPr>
        <p:spPr>
          <a:xfrm>
            <a:off x="1257269" y="5313005"/>
            <a:ext cx="4609985" cy="604441"/>
          </a:xfrm>
          <a:prstGeom prst="rect">
            <a:avLst/>
          </a:prstGeom>
          <a:noFill/>
          <a:ln/>
        </p:spPr>
        <p:txBody>
          <a:bodyPr wrap="square" lIns="0" tIns="0" rIns="0" bIns="0" rtlCol="0" anchor="t">
            <a:normAutofit/>
          </a:bodyPr>
          <a:lstStyle/>
          <a:p>
            <a:pPr algn="l" indent="0" marL="0">
              <a:lnSpc>
                <a:spcPct val="117000"/>
              </a:lnSpc>
              <a:buNone/>
            </a:pPr>
            <a:r>
              <a:rPr lang="en-US" sz="1700" b="1" dirty="0">
                <a:solidFill>
                  <a:srgbClr val="1E2328"/>
                </a:solidFill>
                <a:latin typeface="Lexend Bold" pitchFamily="34" charset="0"/>
                <a:ea typeface="Lexend Bold" pitchFamily="34" charset="-122"/>
                <a:cs typeface="Lexend Bold" pitchFamily="34" charset="0"/>
              </a:rPr>
              <a:t>Validation:</a:t>
            </a:r>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 Frontend and backend validation.</a:t>
            </a:r>
            <a:endParaRPr lang="en-US" sz="1700" dirty="0"/>
          </a:p>
        </p:txBody>
      </p:sp>
      <p:sp>
        <p:nvSpPr>
          <p:cNvPr id="13" name="Shape 8"/>
          <p:cNvSpPr/>
          <p:nvPr/>
        </p:nvSpPr>
        <p:spPr>
          <a:xfrm>
            <a:off x="6324442" y="2141617"/>
            <a:ext cx="558786" cy="558800"/>
          </a:xfrm>
          <a:prstGeom prst="ellipse">
            <a:avLst/>
          </a:prstGeom>
          <a:solidFill>
            <a:srgbClr val="F25A3C"/>
          </a:solidFill>
          <a:ln/>
        </p:spPr>
      </p:sp>
      <p:pic>
        <p:nvPicPr>
          <p:cNvPr id="14" name="Image 3" descr="preencoded.png">    </p:cNvPr>
          <p:cNvPicPr>
            <a:picLocks noChangeAspect="1"/>
          </p:cNvPicPr>
          <p:nvPr/>
        </p:nvPicPr>
        <p:blipFill>
          <a:blip r:embed="rId4"/>
          <a:stretch>
            <a:fillRect/>
          </a:stretch>
        </p:blipFill>
        <p:spPr>
          <a:xfrm>
            <a:off x="6426039" y="2243217"/>
            <a:ext cx="355591" cy="355600"/>
          </a:xfrm>
          <a:prstGeom prst="rect">
            <a:avLst/>
          </a:prstGeom>
        </p:spPr>
      </p:pic>
      <p:sp>
        <p:nvSpPr>
          <p:cNvPr id="15" name="Text 9"/>
          <p:cNvSpPr/>
          <p:nvPr/>
        </p:nvSpPr>
        <p:spPr>
          <a:xfrm>
            <a:off x="6972126" y="2376924"/>
            <a:ext cx="4609985" cy="906661"/>
          </a:xfrm>
          <a:prstGeom prst="rect">
            <a:avLst/>
          </a:prstGeom>
          <a:noFill/>
          <a:ln/>
        </p:spPr>
        <p:txBody>
          <a:bodyPr wrap="square" lIns="0" tIns="0" rIns="0" bIns="0" rtlCol="0" anchor="t">
            <a:normAutofit/>
          </a:bodyPr>
          <a:lstStyle/>
          <a:p>
            <a:pPr algn="l" indent="0" marL="0">
              <a:lnSpc>
                <a:spcPct val="117000"/>
              </a:lnSpc>
              <a:buNone/>
            </a:pPr>
            <a:r>
              <a:rPr lang="en-US" sz="1700" b="1" dirty="0">
                <a:solidFill>
                  <a:srgbClr val="1E2328"/>
                </a:solidFill>
                <a:latin typeface="Lexend Bold" pitchFamily="34" charset="0"/>
                <a:ea typeface="Lexend Bold" pitchFamily="34" charset="-122"/>
                <a:cs typeface="Lexend Bold" pitchFamily="34" charset="0"/>
              </a:rPr>
              <a:t>Performance and responsiveness:</a:t>
            </a:r>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 Quick responses, minimal latency and responsive dashboards.</a:t>
            </a:r>
            <a:endParaRPr lang="en-US" sz="1700" dirty="0"/>
          </a:p>
        </p:txBody>
      </p:sp>
      <p:sp>
        <p:nvSpPr>
          <p:cNvPr id="16" name="Shape 10"/>
          <p:cNvSpPr/>
          <p:nvPr/>
        </p:nvSpPr>
        <p:spPr>
          <a:xfrm>
            <a:off x="6324442" y="4192568"/>
            <a:ext cx="558786" cy="558800"/>
          </a:xfrm>
          <a:prstGeom prst="ellipse">
            <a:avLst/>
          </a:prstGeom>
          <a:solidFill>
            <a:srgbClr val="F25A3C"/>
          </a:solidFill>
          <a:ln/>
        </p:spPr>
      </p:sp>
      <p:pic>
        <p:nvPicPr>
          <p:cNvPr id="17" name="Image 4" descr="preencoded.png">    </p:cNvPr>
          <p:cNvPicPr>
            <a:picLocks noChangeAspect="1"/>
          </p:cNvPicPr>
          <p:nvPr/>
        </p:nvPicPr>
        <p:blipFill>
          <a:blip r:embed="rId5"/>
          <a:stretch>
            <a:fillRect/>
          </a:stretch>
        </p:blipFill>
        <p:spPr>
          <a:xfrm>
            <a:off x="6426039" y="4294168"/>
            <a:ext cx="355591" cy="355600"/>
          </a:xfrm>
          <a:prstGeom prst="rect">
            <a:avLst/>
          </a:prstGeom>
        </p:spPr>
      </p:pic>
      <p:sp>
        <p:nvSpPr>
          <p:cNvPr id="18" name="Text 11"/>
          <p:cNvSpPr/>
          <p:nvPr/>
        </p:nvSpPr>
        <p:spPr>
          <a:xfrm>
            <a:off x="6972126" y="4427875"/>
            <a:ext cx="4609985" cy="906661"/>
          </a:xfrm>
          <a:prstGeom prst="rect">
            <a:avLst/>
          </a:prstGeom>
          <a:noFill/>
          <a:ln/>
        </p:spPr>
        <p:txBody>
          <a:bodyPr wrap="square" lIns="0" tIns="0" rIns="0" bIns="0" rtlCol="0" anchor="t">
            <a:normAutofit/>
          </a:bodyPr>
          <a:lstStyle/>
          <a:p>
            <a:pPr algn="l" indent="0" marL="0">
              <a:lnSpc>
                <a:spcPct val="117000"/>
              </a:lnSpc>
              <a:buNone/>
            </a:pPr>
            <a:r>
              <a:rPr lang="en-US" sz="1700" b="1" dirty="0">
                <a:solidFill>
                  <a:srgbClr val="1E2328"/>
                </a:solidFill>
                <a:latin typeface="Lexend Bold" pitchFamily="34" charset="0"/>
                <a:ea typeface="Lexend Bold" pitchFamily="34" charset="-122"/>
                <a:cs typeface="Lexend Bold" pitchFamily="34" charset="0"/>
              </a:rPr>
              <a:t>Result:</a:t>
            </a:r>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 No paperwork, fewer errors, centralized data and better administrative visibility.</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21983"/>
            <a:ext cx="6039989"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1E2328"/>
                </a:solidFill>
                <a:latin typeface="Martian Mono Medium" pitchFamily="34" charset="0"/>
                <a:ea typeface="Martian Mono Medium" pitchFamily="34" charset="-122"/>
                <a:cs typeface="Martian Mono Medium" pitchFamily="34" charset="0"/>
              </a:rPr>
              <a:t>NEXT HORIZON</a:t>
            </a:r>
            <a:endParaRPr lang="en-US" sz="1200" dirty="0"/>
          </a:p>
        </p:txBody>
      </p:sp>
      <p:sp>
        <p:nvSpPr>
          <p:cNvPr id="3" name="Text 1"/>
          <p:cNvSpPr/>
          <p:nvPr/>
        </p:nvSpPr>
        <p:spPr>
          <a:xfrm>
            <a:off x="609585" y="914672"/>
            <a:ext cx="5430404" cy="1508522"/>
          </a:xfrm>
          <a:prstGeom prst="rect">
            <a:avLst/>
          </a:prstGeom>
          <a:noFill/>
          <a:ln/>
        </p:spPr>
        <p:txBody>
          <a:bodyPr wrap="square" lIns="0" tIns="0" rIns="0" bIns="0" rtlCol="0" anchor="t">
            <a:normAutofit/>
          </a:bodyPr>
          <a:lstStyle/>
          <a:p>
            <a:pPr algn="l" indent="0" marL="0">
              <a:lnSpc>
                <a:spcPct val="92000"/>
              </a:lnSpc>
              <a:buNone/>
            </a:pPr>
            <a:r>
              <a:rPr lang="en-US" sz="3600" b="1" spc="-54" kern="100" dirty="0">
                <a:solidFill>
                  <a:srgbClr val="1E2328"/>
                </a:solidFill>
                <a:latin typeface="Syne Bold" pitchFamily="34" charset="0"/>
                <a:ea typeface="Syne Bold" pitchFamily="34" charset="-122"/>
                <a:cs typeface="Syne Bold" pitchFamily="34" charset="0"/>
              </a:rPr>
              <a:t>The platform is ready to grow beyond the internship</a:t>
            </a:r>
            <a:endParaRPr lang="en-US" sz="3600" dirty="0"/>
          </a:p>
        </p:txBody>
      </p:sp>
      <p:sp>
        <p:nvSpPr>
          <p:cNvPr id="4" name="Text 2"/>
          <p:cNvSpPr/>
          <p:nvPr/>
        </p:nvSpPr>
        <p:spPr>
          <a:xfrm>
            <a:off x="609585" y="2617788"/>
            <a:ext cx="5430404" cy="1704777"/>
          </a:xfrm>
          <a:prstGeom prst="rect">
            <a:avLst/>
          </a:prstGeom>
          <a:noFill/>
          <a:ln/>
        </p:spPr>
        <p:txBody>
          <a:bodyPr wrap="square" lIns="0" tIns="0" rIns="0" bIns="0" rtlCol="0" anchor="t">
            <a:normAutofit/>
          </a:bodyPr>
          <a:lstStyle/>
          <a:p>
            <a:pPr algn="l" indent="0" marL="0">
              <a:lnSpc>
                <a:spcPct val="117000"/>
              </a:lnSpc>
              <a:spcAft>
                <a:spcPts val="1500"/>
              </a:spcAft>
              <a:buNone/>
            </a:pPr>
            <a:r>
              <a:rPr lang="en-US" sz="1700" dirty="0">
                <a:solidFill>
                  <a:srgbClr val="1E2328"/>
                </a:solidFill>
                <a:latin typeface="Lexend" pitchFamily="34" charset="0"/>
                <a:ea typeface="Lexend" pitchFamily="34" charset="-122"/>
                <a:cs typeface="Lexend" pitchFamily="34" charset="0"/>
              </a:rPr>
              <a:t>Conclusion: a centralized, role-based platform that reduces workload, minimizes errors and improves coordination.</a:t>
            </a:r>
            <a:endParaRPr lang="en-US" sz="1700" dirty="0"/>
          </a:p>
          <a:p>
            <a:pPr algn="l" indent="0" marL="0">
              <a:lnSpc>
                <a:spcPct val="117000"/>
              </a:lnSpc>
              <a:buNone/>
            </a:pPr>
            <a:r>
              <a:rPr lang="en-US" sz="1700" b="1" dirty="0">
                <a:solidFill>
                  <a:srgbClr val="1E2328"/>
                </a:solidFill>
                <a:latin typeface="Lexend Bold" pitchFamily="34" charset="0"/>
                <a:ea typeface="Lexend Bold" pitchFamily="34" charset="-122"/>
                <a:cs typeface="Lexend Bold" pitchFamily="34" charset="0"/>
              </a:rPr>
              <a:t>Learning:</a:t>
            </a:r>
            <a:pPr algn="l" indent="0" marL="0">
              <a:lnSpc>
                <a:spcPct val="117000"/>
              </a:lnSpc>
              <a:buNone/>
            </a:pPr>
            <a:r>
              <a:rPr lang="en-US" sz="1700" dirty="0">
                <a:solidFill>
                  <a:srgbClr val="1E2328"/>
                </a:solidFill>
                <a:latin typeface="Lexend" pitchFamily="34" charset="0"/>
                <a:ea typeface="Lexend" pitchFamily="34" charset="-122"/>
                <a:cs typeface="Lexend" pitchFamily="34" charset="0"/>
              </a:rPr>
              <a:t> full-stack development, MongoDB design, integration, debugging and testing.</a:t>
            </a:r>
            <a:endParaRPr lang="en-US" sz="1700" dirty="0"/>
          </a:p>
        </p:txBody>
      </p:sp>
      <p:sp>
        <p:nvSpPr>
          <p:cNvPr id="5" name="Text 3"/>
          <p:cNvSpPr/>
          <p:nvPr/>
        </p:nvSpPr>
        <p:spPr>
          <a:xfrm>
            <a:off x="609585" y="4524573"/>
            <a:ext cx="2638954" cy="642938"/>
          </a:xfrm>
          <a:prstGeom prst="rect">
            <a:avLst/>
          </a:prstGeom>
          <a:noFill/>
          <a:ln/>
        </p:spPr>
        <p:txBody>
          <a:bodyPr wrap="square" lIns="0" tIns="0" rIns="0" bIns="0" rtlCol="0" anchor="t">
            <a:normAutofit/>
          </a:bodyPr>
          <a:lstStyle/>
          <a:p>
            <a:pPr algn="l" indent="0" marL="0">
              <a:lnSpc>
                <a:spcPct val="112000"/>
              </a:lnSpc>
              <a:buNone/>
            </a:pPr>
            <a:r>
              <a:rPr lang="en-US" sz="1250" dirty="0">
                <a:solidFill>
                  <a:srgbClr val="555D66"/>
                </a:solidFill>
                <a:latin typeface="Lexend" pitchFamily="34" charset="0"/>
                <a:ea typeface="Lexend" pitchFamily="34" charset="-122"/>
                <a:cs typeface="Lexend" pitchFamily="34" charset="0"/>
              </a:rPr>
              <a:t>JWT authentication · password encryption · mobile app · real-time notifications</a:t>
            </a:r>
            <a:endParaRPr lang="en-US" sz="1250" dirty="0"/>
          </a:p>
        </p:txBody>
      </p:sp>
      <p:sp>
        <p:nvSpPr>
          <p:cNvPr id="6" name="Text 4"/>
          <p:cNvSpPr/>
          <p:nvPr/>
        </p:nvSpPr>
        <p:spPr>
          <a:xfrm>
            <a:off x="3400935" y="4524573"/>
            <a:ext cx="2639054" cy="642938"/>
          </a:xfrm>
          <a:prstGeom prst="rect">
            <a:avLst/>
          </a:prstGeom>
          <a:noFill/>
          <a:ln/>
        </p:spPr>
        <p:txBody>
          <a:bodyPr wrap="square" lIns="0" tIns="0" rIns="0" bIns="0" rtlCol="0" anchor="t">
            <a:normAutofit/>
          </a:bodyPr>
          <a:lstStyle/>
          <a:p>
            <a:pPr algn="l" indent="0" marL="0">
              <a:lnSpc>
                <a:spcPct val="112000"/>
              </a:lnSpc>
              <a:buNone/>
            </a:pPr>
            <a:r>
              <a:rPr lang="en-US" sz="1250" dirty="0">
                <a:solidFill>
                  <a:srgbClr val="555D66"/>
                </a:solidFill>
                <a:latin typeface="Lexend" pitchFamily="34" charset="0"/>
                <a:ea typeface="Lexend" pitchFamily="34" charset="-122"/>
                <a:cs typeface="Lexend" pitchFamily="34" charset="0"/>
              </a:rPr>
              <a:t>Cloud deployment on AWS/Azure/GCP · medical report upload · analytics dashboards</a:t>
            </a:r>
            <a:endParaRPr lang="en-US" sz="1250" dirty="0"/>
          </a:p>
        </p:txBody>
      </p:sp>
      <p:sp>
        <p:nvSpPr>
          <p:cNvPr id="7" name="Text 5"/>
          <p:cNvSpPr/>
          <p:nvPr/>
        </p:nvSpPr>
        <p:spPr>
          <a:xfrm>
            <a:off x="609585" y="5319911"/>
            <a:ext cx="5430404" cy="214313"/>
          </a:xfrm>
          <a:prstGeom prst="rect">
            <a:avLst/>
          </a:prstGeom>
          <a:noFill/>
          <a:ln/>
        </p:spPr>
        <p:txBody>
          <a:bodyPr wrap="none" lIns="0" tIns="0" rIns="0" bIns="0" rtlCol="0" anchor="t"/>
          <a:lstStyle/>
          <a:p>
            <a:pPr algn="l" indent="0" marL="0">
              <a:lnSpc>
                <a:spcPct val="112000"/>
              </a:lnSpc>
              <a:buNone/>
            </a:pPr>
            <a:r>
              <a:rPr lang="en-US" sz="1250" dirty="0">
                <a:solidFill>
                  <a:srgbClr val="555D66"/>
                </a:solidFill>
                <a:latin typeface="Lexend" pitchFamily="34" charset="0"/>
                <a:ea typeface="Lexend" pitchFamily="34" charset="-122"/>
                <a:cs typeface="Lexend" pitchFamily="34" charset="0"/>
              </a:rPr>
              <a:t>Online payments · AI-based predictive features</a:t>
            </a:r>
            <a:endParaRPr lang="en-US" sz="1250" dirty="0"/>
          </a:p>
        </p:txBody>
      </p:sp>
      <p:sp>
        <p:nvSpPr>
          <p:cNvPr id="8" name="Text 6"/>
          <p:cNvSpPr/>
          <p:nvPr/>
        </p:nvSpPr>
        <p:spPr>
          <a:xfrm>
            <a:off x="609585" y="6169065"/>
            <a:ext cx="5430404" cy="518120"/>
          </a:xfrm>
          <a:prstGeom prst="rect">
            <a:avLst/>
          </a:prstGeom>
          <a:noFill/>
          <a:ln/>
        </p:spPr>
        <p:txBody>
          <a:bodyPr wrap="none" lIns="0" tIns="0" rIns="0" bIns="0" rtlCol="0" anchor="t"/>
          <a:lstStyle/>
          <a:p>
            <a:pPr algn="l" indent="0" marL="0">
              <a:lnSpc>
                <a:spcPct val="85000"/>
              </a:lnSpc>
              <a:buNone/>
            </a:pPr>
            <a:r>
              <a:rPr lang="en-US" sz="4000" b="1" spc="-80" kern="100" dirty="0">
                <a:solidFill>
                  <a:srgbClr val="1E2328"/>
                </a:solidFill>
                <a:latin typeface="Syne Bold" pitchFamily="34" charset="0"/>
                <a:ea typeface="Syne Bold" pitchFamily="34" charset="-122"/>
                <a:cs typeface="Syne Bold" pitchFamily="34" charset="0"/>
              </a:rPr>
              <a:t>Thank You</a:t>
            </a:r>
            <a:endParaRPr lang="en-US" sz="4000" dirty="0"/>
          </a:p>
        </p:txBody>
      </p:sp>
      <p:pic>
        <p:nvPicPr>
          <p:cNvPr id="9" name="Image 0" descr="preencoded.png">    </p:cNvPr>
          <p:cNvPicPr>
            <a:picLocks noChangeAspect="1"/>
          </p:cNvPicPr>
          <p:nvPr/>
        </p:nvPicPr>
        <p:blipFill>
          <a:blip r:embed="rId1"/>
          <a:stretch>
            <a:fillRect/>
          </a:stretch>
        </p:blipFill>
        <p:spPr>
          <a:xfrm>
            <a:off x="7106663" y="0"/>
            <a:ext cx="5085032"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2026-10-25T14:59:46Z</dcterms:created>
  <dcterms:modified xsi:type="dcterms:W3CDTF">2026-10-25T14:59:46Z</dcterms:modified>
</cp:coreProperties>
</file>